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whole form as a person first sees it. They only ever see their own areas. Each area is a card with the zone on file; the blue band on each card is what they need to do. Two areas here have a zone on file; the third, Tower 37, has none yet.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Up close, one card. The header takes the colour of the zone, the zone is named with its colour dot, and the description says what the zone means. The person has exactly two choices: confirm it, or change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Most areas will be this simple. One tick and the card shows it is done. Unticking puts it back.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Tower 10 is on file as Public Plus, but the person knows it is wrong. Clicking Change zone swaps the button for the zone list, already open.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After picking Standards, the card makes the change obvious: the old zone is struck through, the arrow points to the new one, and the person reads the Standards rules before they submit.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they change their mind, Keep current zone restores the card exactly as it started. It does not confirm it for them; they still tick the box.</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Tower 37 has no zone on file yet, so there is nothing to confirm. The card opens with the zone list instead.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someone clicks Submit too early, nothing is sent. Every area still needing an answer is outlined in red with its own message, and the cursor jumps to the first 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With everything answered, every card wears a badge: Confirmed, Changed or Selected. Submit opens this dialog because answers cannot be changed afterwards.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form is replaced by a confirmation that the attestation was recorded.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Areas already submitted drop off the form, so a person who comes back sees only what is still missing.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Someone who has already attested every area sees this instead of the form.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body">
    <p:bg>
      <p:bgPr>
        <a:solidFill>
          <a:srgbClr val="FFFFFF"/>
        </a:solidFill>
      </p:bgPr>
    </p:bg>
    <p:spTree>
      <p:nvGrpSpPr>
        <p:cNvPr id="1" name=""/>
        <p:cNvGrpSpPr/>
        <p:nvPr/>
      </p:nvGrpSpPr>
      <p:grpSpPr>
        <a:xfrm>
          <a:off x="0" y="0"/>
          <a:ext cx="0" cy="0"/>
          <a:chOff x="0" y="0"/>
          <a:chExt cx="0" cy="0"/>
        </a:xfrm>
      </p:grpSpPr>
      <p:sp>
        <p:nvSpPr>
          <p:cNvPr id="2" name="Title Placeholder 1"/>
          <p:cNvSpPr/>
          <p:nvPr>
            <p:ph type="title"/>
          </p:nvPr>
        </p:nvSpPr>
        <p:spPr>
          <a:xfrm>
            <a:off x="762000" y="457200"/>
            <a:ext cx="10820400" cy="438150"/>
          </a:xfrm>
          <a:prstGeom prst="rect">
            <a:avLst/>
          </a:prstGeom>
          <a:noFill/>
          <a:ln/>
        </p:spPr>
        <p:txBody>
          <a:bodyPr wrap="square" lIns="0" tIns="0" rIns="0" bIns="0" rtlCol="0" anchor="t"/>
          <a:lstStyle>
            <a:lvl1pPr algn="l" indent="0" marL="0">
              <a:lnSpc>
                <a:spcPct val="115000"/>
              </a:lnSpc>
              <a:buNone/>
              <a:defRPr lang="en-US" sz="3000" dirty="0">
                <a:solidFill>
                  <a:srgbClr val="1E1E1E"/>
                </a:solidFill>
                <a:latin typeface="Dax Pro" pitchFamily="34" charset="0"/>
                <a:ea typeface="Dax Pro" pitchFamily="34" charset="-122"/>
                <a:cs typeface="Dax Pro" pitchFamily="34" charset="-120"/>
              </a:defRPr>
            </a:lvl1pPr>
          </a:lstStyle>
          <a:p>
            <a:pPr algn="l" indent="0" marL="0">
              <a:lnSpc>
                <a:spcPct val="115000"/>
              </a:lnSpc>
              <a:buNone/>
            </a:pPr>
            <a:endParaRPr lang="en-US" sz="3000" dirty="0"/>
          </a:p>
        </p:txBody>
      </p:sp>
      <p:sp>
        <p:nvSpPr>
          <p:cNvPr id="3" name="Text Placeholder 2"/>
          <p:cNvSpPr/>
          <p:nvPr>
            <p:ph idx="101" type="body"/>
          </p:nvPr>
        </p:nvSpPr>
        <p:spPr>
          <a:xfrm>
            <a:off x="762000" y="1200150"/>
            <a:ext cx="10617200" cy="4845050"/>
          </a:xfrm>
          <a:prstGeom prst="rect">
            <a:avLst/>
          </a:prstGeom>
          <a:noFill/>
          <a:ln/>
        </p:spPr>
        <p:txBody>
          <a:bodyPr wrap="square" lIns="0" tIns="0" rIns="0" bIns="0" rtlCol="0" anchor="t"/>
          <a:lstStyle>
            <a:lvl1pPr algn="l" indent="0" marL="0">
              <a:lnSpc>
                <a:spcPct val="140000"/>
              </a:lnSpc>
              <a:buNone/>
              <a:defRPr lang="en-US" sz="1600" dirty="0">
                <a:solidFill>
                  <a:srgbClr val="1E1E1E"/>
                </a:solidFill>
                <a:latin typeface="Dax Pro" pitchFamily="34" charset="0"/>
                <a:ea typeface="Dax Pro" pitchFamily="34" charset="-122"/>
                <a:cs typeface="Dax Pro" pitchFamily="34" charset="-120"/>
              </a:defRPr>
            </a:lvl1pPr>
          </a:lstStyle>
          <a:p>
            <a:pPr algn="l" indent="0" marL="0">
              <a:lnSpc>
                <a:spcPct val="140000"/>
              </a:lnSpc>
              <a:buNone/>
            </a:pPr>
            <a:endParaRPr lang="en-US" sz="16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p:bgPr>
    </p:bg>
    <p:spTree>
      <p:nvGrpSpPr>
        <p:cNvPr id="1" name=""/>
        <p:cNvGrpSpPr/>
        <p:nvPr/>
      </p:nvGrpSpPr>
      <p:grpSpPr>
        <a:xfrm>
          <a:off x="0" y="0"/>
          <a:ext cx="0" cy="0"/>
          <a:chOff x="0" y="0"/>
          <a:chExt cx="0" cy="0"/>
        </a:xfrm>
      </p:grpSpPr>
      <p:sp>
        <p:nvSpPr>
          <p:cNvPr id="2" name="Title Placeholder 1"/>
          <p:cNvSpPr/>
          <p:nvPr>
            <p:ph type="title"/>
          </p:nvPr>
        </p:nvSpPr>
        <p:spPr>
          <a:xfrm>
            <a:off x="762000" y="457200"/>
            <a:ext cx="10820400" cy="438150"/>
          </a:xfrm>
          <a:prstGeom prst="rect">
            <a:avLst/>
          </a:prstGeom>
          <a:noFill/>
          <a:ln/>
        </p:spPr>
        <p:txBody>
          <a:bodyPr wrap="square" lIns="0" tIns="0" rIns="0" bIns="0" rtlCol="0" anchor="t"/>
          <a:lstStyle>
            <a:lvl1pPr algn="l" indent="0" marL="0">
              <a:lnSpc>
                <a:spcPct val="115000"/>
              </a:lnSpc>
              <a:buNone/>
              <a:defRPr lang="en-US" sz="3000" dirty="0">
                <a:solidFill>
                  <a:srgbClr val="1E1E1E"/>
                </a:solidFill>
                <a:latin typeface="Dax Pro" pitchFamily="34" charset="0"/>
                <a:ea typeface="Dax Pro" pitchFamily="34" charset="-122"/>
                <a:cs typeface="Dax Pro" pitchFamily="34" charset="-120"/>
              </a:defRPr>
            </a:lvl1pPr>
          </a:lstStyle>
          <a:p>
            <a:pPr algn="l" indent="0" marL="0">
              <a:lnSpc>
                <a:spcPct val="115000"/>
              </a:lnSpc>
              <a:buNone/>
            </a:pPr>
            <a:endParaRPr lang="en-US" sz="3000" dirty="0"/>
          </a:p>
        </p:txBody>
      </p:sp>
      <p:sp>
        <p:nvSpPr>
          <p:cNvPr id="3" name="Text Placeholder 2"/>
          <p:cNvSpPr/>
          <p:nvPr>
            <p:ph idx="101" type="body"/>
          </p:nvPr>
        </p:nvSpPr>
        <p:spPr>
          <a:xfrm>
            <a:off x="762000" y="1200150"/>
            <a:ext cx="10617200" cy="4845050"/>
          </a:xfrm>
          <a:prstGeom prst="rect">
            <a:avLst/>
          </a:prstGeom>
          <a:noFill/>
          <a:ln/>
        </p:spPr>
        <p:txBody>
          <a:bodyPr wrap="square" lIns="0" tIns="0" rIns="0" bIns="0" rtlCol="0" anchor="t"/>
          <a:lstStyle>
            <a:lvl1pPr algn="l" indent="0" marL="0">
              <a:lnSpc>
                <a:spcPct val="140000"/>
              </a:lnSpc>
              <a:buNone/>
              <a:defRPr lang="en-US" sz="1600" dirty="0">
                <a:solidFill>
                  <a:srgbClr val="1E1E1E"/>
                </a:solidFill>
                <a:latin typeface="Dax Pro" pitchFamily="34" charset="0"/>
                <a:ea typeface="Dax Pro" pitchFamily="34" charset="-122"/>
                <a:cs typeface="Dax Pro" pitchFamily="34" charset="-120"/>
              </a:defRPr>
            </a:lvl1pPr>
          </a:lstStyle>
          <a:p>
            <a:pPr algn="l" indent="0" marL="0">
              <a:lnSpc>
                <a:spcPct val="140000"/>
              </a:lnSpc>
              <a:buNone/>
            </a:pPr>
            <a:endParaRPr lang="en-US" sz="1600"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slideLayout" Target="../slideLayouts/slideLayout2.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slideLayout" Target="../slideLayouts/slideLayout2.xml"/><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slideLayout" Target="../slideLayouts/slideLayout2.xml"/><Relationship Id="rId5"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slideLayout" Target="../slideLayouts/slideLayout2.xml"/><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slideLayout" Target="../slideLayouts/slideLayout2.xml"/><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slideLayout" Target="../slideLayouts/slideLayout2.xml"/><Relationship Id="rId5"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slideLayout" Target="../slideLayouts/slideLayout2.xml"/><Relationship Id="rId5"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slideLayout" Target="../slideLayouts/slideLayout2.xm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slideLayout" Target="../slideLayouts/slideLayout2.xml"/><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slideLayout" Target="../slideLayouts/slideLayout2.xml"/><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slideLayout" Target="../slideLayouts/slideLayout2.xml"/><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slideLayout" Target="../slideLayouts/slideLayout2.xml"/><Relationship Id="rId4"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52400" cy="6858000"/>
          </a:xfrm>
          <a:prstGeom prst="rect">
            <a:avLst/>
          </a:prstGeom>
          <a:gradFill rotWithShape="1">
            <a:gsLst>
              <a:gs pos="0">
                <a:srgbClr val="004068"/>
              </a:gs>
              <a:gs pos="100000">
                <a:srgbClr val="0079C1"/>
              </a:gs>
            </a:gsLst>
            <a:lin ang="5400000" scaled="0"/>
          </a:gradFill>
          <a:ln/>
        </p:spPr>
      </p:sp>
      <p:sp>
        <p:nvSpPr>
          <p:cNvPr id="3" name="Shape 1"/>
          <p:cNvSpPr/>
          <p:nvPr/>
        </p:nvSpPr>
        <p:spPr>
          <a:xfrm>
            <a:off x="762000" y="457200"/>
            <a:ext cx="5003800" cy="5638800"/>
          </a:xfrm>
          <a:prstGeom prst="rect">
            <a:avLst/>
          </a:prstGeom>
          <a:solidFill>
            <a:srgbClr val="E6F2FA"/>
          </a:solidFill>
          <a:ln/>
        </p:spPr>
      </p:sp>
      <p:pic>
        <p:nvPicPr>
          <p:cNvPr id="4" name="Image 0" descr="The attestation form as it opens, with numbered markers 1 to 7">    </p:cNvPr>
          <p:cNvPicPr>
            <a:picLocks noChangeAspect="1"/>
          </p:cNvPicPr>
          <p:nvPr/>
        </p:nvPicPr>
        <p:blipFill>
          <a:blip r:embed="rId1"/>
          <a:srcRect l="0" r="0" t="-22" b="-22"/>
          <a:stretch/>
        </p:blipFill>
        <p:spPr>
          <a:xfrm>
            <a:off x="850900" y="546100"/>
            <a:ext cx="4826000" cy="5461000"/>
          </a:xfrm>
          <a:prstGeom prst="rect">
            <a:avLst/>
          </a:prstGeom>
        </p:spPr>
      </p:pic>
      <p:sp>
        <p:nvSpPr>
          <p:cNvPr id="5" name="Text 2"/>
          <p:cNvSpPr/>
          <p:nvPr>
            <p:ph type="title"/>
          </p:nvPr>
        </p:nvSpPr>
        <p:spPr>
          <a:xfrm>
            <a:off x="6273800" y="609600"/>
            <a:ext cx="5467858" cy="901700"/>
          </a:xfrm>
          <a:prstGeom prst="rect">
            <a:avLst/>
          </a:prstGeom>
          <a:noFill/>
          <a:ln/>
        </p:spPr>
        <p:txBody>
          <a:bodyPr wrap="square" lIns="0" tIns="0" rIns="0" bIns="0" rtlCol="0" anchor="t">
            <a:normAutofit/>
          </a:bodyPr>
          <a:lstStyle/>
          <a:p>
            <a:pPr algn="l" indent="0" marL="0">
              <a:lnSpc>
                <a:spcPts val="3450"/>
              </a:lnSpc>
              <a:buNone/>
            </a:pPr>
            <a:r>
              <a:rPr lang="en-US" sz="3000" b="0" i="0" dirty="0">
                <a:solidFill>
                  <a:srgbClr val="1E1E1E"/>
                </a:solidFill>
                <a:latin typeface="Dax Pro" pitchFamily="34" charset="0"/>
                <a:ea typeface="Dax Pro" pitchFamily="34" charset="-122"/>
                <a:cs typeface="Dax Pro" pitchFamily="34" charset="-120"/>
              </a:rPr>
              <a:t>What people see when they open the form</a:t>
            </a:r>
            <a:endParaRPr lang="en-US" sz="3000" dirty="0"/>
          </a:p>
        </p:txBody>
      </p:sp>
      <p:sp>
        <p:nvSpPr>
          <p:cNvPr id="6" name="Text 3"/>
          <p:cNvSpPr/>
          <p:nvPr/>
        </p:nvSpPr>
        <p:spPr>
          <a:xfrm>
            <a:off x="6273800" y="1765300"/>
            <a:ext cx="330200" cy="330200"/>
          </a:xfrm>
          <a:prstGeom prst="roundRect">
            <a:avLst>
              <a:gd name="adj" fmla="val 50000"/>
            </a:avLst>
          </a:prstGeom>
          <a:solidFill>
            <a:srgbClr val="0079C1"/>
          </a:solidFill>
          <a:ln/>
        </p:spPr>
        <p:txBody>
          <a:bodyPr wrap="square" lIns="0" tIns="0" rIns="0" bIns="0" rtlCol="0" anchor="ctr">
            <a:normAutofit/>
          </a:bodyPr>
          <a:lstStyle/>
          <a:p>
            <a:pPr algn="ctr" indent="0" marL="0">
              <a:lnSpc>
                <a:spcPts val="1300"/>
              </a:lnSpc>
              <a:buNone/>
            </a:pPr>
            <a:r>
              <a:rPr lang="en-US" sz="1300" dirty="0">
                <a:solidFill>
                  <a:srgbClr val="FFFFFF"/>
                </a:solidFill>
                <a:latin typeface="Dax Pro" pitchFamily="34" charset="0"/>
                <a:ea typeface="Dax Pro" pitchFamily="34" charset="-122"/>
                <a:cs typeface="Dax Pro" pitchFamily="34" charset="-120"/>
              </a:rPr>
              <a:t>1</a:t>
            </a:r>
            <a:endParaRPr lang="en-US" sz="1300" dirty="0"/>
          </a:p>
        </p:txBody>
      </p:sp>
      <p:sp>
        <p:nvSpPr>
          <p:cNvPr id="7" name="Text 4"/>
          <p:cNvSpPr/>
          <p:nvPr/>
        </p:nvSpPr>
        <p:spPr>
          <a:xfrm>
            <a:off x="6731000" y="1810367"/>
            <a:ext cx="1758315" cy="265421"/>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1E1E1E"/>
                </a:solidFill>
                <a:latin typeface="Dax Pro" pitchFamily="34" charset="0"/>
                <a:ea typeface="Dax Pro" pitchFamily="34" charset="-122"/>
                <a:cs typeface="Dax Pro" pitchFamily="34" charset="-120"/>
              </a:rPr>
              <a:t>A link to the job aid</a:t>
            </a:r>
            <a:endParaRPr lang="en-US" sz="1400" dirty="0"/>
          </a:p>
        </p:txBody>
      </p:sp>
      <p:sp>
        <p:nvSpPr>
          <p:cNvPr id="8" name="Text 5"/>
          <p:cNvSpPr/>
          <p:nvPr/>
        </p:nvSpPr>
        <p:spPr>
          <a:xfrm>
            <a:off x="6273800" y="2235200"/>
            <a:ext cx="330200" cy="330200"/>
          </a:xfrm>
          <a:prstGeom prst="roundRect">
            <a:avLst>
              <a:gd name="adj" fmla="val 50000"/>
            </a:avLst>
          </a:prstGeom>
          <a:solidFill>
            <a:srgbClr val="0079C1"/>
          </a:solidFill>
          <a:ln/>
        </p:spPr>
        <p:txBody>
          <a:bodyPr wrap="square" lIns="0" tIns="0" rIns="0" bIns="0" rtlCol="0" anchor="ctr">
            <a:normAutofit/>
          </a:bodyPr>
          <a:lstStyle/>
          <a:p>
            <a:pPr algn="ctr" indent="0" marL="0">
              <a:lnSpc>
                <a:spcPts val="1300"/>
              </a:lnSpc>
              <a:buNone/>
            </a:pPr>
            <a:r>
              <a:rPr lang="en-US" sz="1300" dirty="0">
                <a:solidFill>
                  <a:srgbClr val="FFFFFF"/>
                </a:solidFill>
                <a:latin typeface="Dax Pro" pitchFamily="34" charset="0"/>
                <a:ea typeface="Dax Pro" pitchFamily="34" charset="-122"/>
                <a:cs typeface="Dax Pro" pitchFamily="34" charset="-120"/>
              </a:rPr>
              <a:t>2</a:t>
            </a:r>
            <a:endParaRPr lang="en-US" sz="1300" dirty="0"/>
          </a:p>
        </p:txBody>
      </p:sp>
      <p:sp>
        <p:nvSpPr>
          <p:cNvPr id="9" name="Text 6"/>
          <p:cNvSpPr/>
          <p:nvPr/>
        </p:nvSpPr>
        <p:spPr>
          <a:xfrm>
            <a:off x="6731000" y="2280267"/>
            <a:ext cx="1448118" cy="265421"/>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1E1E1E"/>
                </a:solidFill>
                <a:latin typeface="Dax Pro" pitchFamily="34" charset="0"/>
                <a:ea typeface="Dax Pro" pitchFamily="34" charset="-122"/>
                <a:cs typeface="Dax Pro" pitchFamily="34" charset="-120"/>
              </a:rPr>
              <a:t>Who is attesting</a:t>
            </a:r>
            <a:endParaRPr lang="en-US" sz="1400" dirty="0"/>
          </a:p>
        </p:txBody>
      </p:sp>
      <p:sp>
        <p:nvSpPr>
          <p:cNvPr id="10" name="Text 7"/>
          <p:cNvSpPr/>
          <p:nvPr/>
        </p:nvSpPr>
        <p:spPr>
          <a:xfrm>
            <a:off x="6273800" y="2705100"/>
            <a:ext cx="330200" cy="330200"/>
          </a:xfrm>
          <a:prstGeom prst="roundRect">
            <a:avLst>
              <a:gd name="adj" fmla="val 50000"/>
            </a:avLst>
          </a:prstGeom>
          <a:solidFill>
            <a:srgbClr val="0079C1"/>
          </a:solidFill>
          <a:ln/>
        </p:spPr>
        <p:txBody>
          <a:bodyPr wrap="square" lIns="0" tIns="0" rIns="0" bIns="0" rtlCol="0" anchor="ctr">
            <a:normAutofit/>
          </a:bodyPr>
          <a:lstStyle/>
          <a:p>
            <a:pPr algn="ctr" indent="0" marL="0">
              <a:lnSpc>
                <a:spcPts val="1300"/>
              </a:lnSpc>
              <a:buNone/>
            </a:pPr>
            <a:r>
              <a:rPr lang="en-US" sz="1300" dirty="0">
                <a:solidFill>
                  <a:srgbClr val="FFFFFF"/>
                </a:solidFill>
                <a:latin typeface="Dax Pro" pitchFamily="34" charset="0"/>
                <a:ea typeface="Dax Pro" pitchFamily="34" charset="-122"/>
                <a:cs typeface="Dax Pro" pitchFamily="34" charset="-120"/>
              </a:rPr>
              <a:t>3</a:t>
            </a:r>
            <a:endParaRPr lang="en-US" sz="1300" dirty="0"/>
          </a:p>
        </p:txBody>
      </p:sp>
      <p:sp>
        <p:nvSpPr>
          <p:cNvPr id="11" name="Text 8"/>
          <p:cNvSpPr/>
          <p:nvPr/>
        </p:nvSpPr>
        <p:spPr>
          <a:xfrm>
            <a:off x="6731000" y="2750167"/>
            <a:ext cx="4732761" cy="265421"/>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1E1E1E"/>
                </a:solidFill>
                <a:latin typeface="Dax Pro" pitchFamily="34" charset="0"/>
                <a:ea typeface="Dax Pro" pitchFamily="34" charset="-122"/>
                <a:cs typeface="Dax Pro" pitchFamily="34" charset="-120"/>
              </a:rPr>
              <a:t>One card per assigned area, showing its current zone</a:t>
            </a:r>
            <a:endParaRPr lang="en-US" sz="1400" dirty="0"/>
          </a:p>
        </p:txBody>
      </p:sp>
      <p:sp>
        <p:nvSpPr>
          <p:cNvPr id="12" name="Text 9"/>
          <p:cNvSpPr/>
          <p:nvPr/>
        </p:nvSpPr>
        <p:spPr>
          <a:xfrm>
            <a:off x="6273800" y="3175000"/>
            <a:ext cx="330200" cy="330200"/>
          </a:xfrm>
          <a:prstGeom prst="roundRect">
            <a:avLst>
              <a:gd name="adj" fmla="val 50000"/>
            </a:avLst>
          </a:prstGeom>
          <a:solidFill>
            <a:srgbClr val="0079C1"/>
          </a:solidFill>
          <a:ln/>
        </p:spPr>
        <p:txBody>
          <a:bodyPr wrap="square" lIns="0" tIns="0" rIns="0" bIns="0" rtlCol="0" anchor="ctr">
            <a:normAutofit/>
          </a:bodyPr>
          <a:lstStyle/>
          <a:p>
            <a:pPr algn="ctr" indent="0" marL="0">
              <a:lnSpc>
                <a:spcPts val="1300"/>
              </a:lnSpc>
              <a:buNone/>
            </a:pPr>
            <a:r>
              <a:rPr lang="en-US" sz="1300" dirty="0">
                <a:solidFill>
                  <a:srgbClr val="FFFFFF"/>
                </a:solidFill>
                <a:latin typeface="Dax Pro" pitchFamily="34" charset="0"/>
                <a:ea typeface="Dax Pro" pitchFamily="34" charset="-122"/>
                <a:cs typeface="Dax Pro" pitchFamily="34" charset="-120"/>
              </a:rPr>
              <a:t>4</a:t>
            </a:r>
            <a:endParaRPr lang="en-US" sz="1300" dirty="0"/>
          </a:p>
        </p:txBody>
      </p:sp>
      <p:sp>
        <p:nvSpPr>
          <p:cNvPr id="13" name="Text 10"/>
          <p:cNvSpPr/>
          <p:nvPr/>
        </p:nvSpPr>
        <p:spPr>
          <a:xfrm>
            <a:off x="6731000" y="3220067"/>
            <a:ext cx="5331460" cy="265421"/>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1E1E1E"/>
                </a:solidFill>
                <a:latin typeface="Dax Pro" pitchFamily="34" charset="0"/>
                <a:ea typeface="Dax Pro" pitchFamily="34" charset="-122"/>
                <a:cs typeface="Dax Pro" pitchFamily="34" charset="-120"/>
              </a:rPr>
              <a:t>What to do for that area, highlighted in blue until answered</a:t>
            </a:r>
            <a:endParaRPr lang="en-US" sz="1400" dirty="0"/>
          </a:p>
        </p:txBody>
      </p:sp>
      <p:sp>
        <p:nvSpPr>
          <p:cNvPr id="14" name="Text 11"/>
          <p:cNvSpPr/>
          <p:nvPr/>
        </p:nvSpPr>
        <p:spPr>
          <a:xfrm>
            <a:off x="6273800" y="3644900"/>
            <a:ext cx="330200" cy="330200"/>
          </a:xfrm>
          <a:prstGeom prst="roundRect">
            <a:avLst>
              <a:gd name="adj" fmla="val 50000"/>
            </a:avLst>
          </a:prstGeom>
          <a:solidFill>
            <a:srgbClr val="0079C1"/>
          </a:solidFill>
          <a:ln/>
        </p:spPr>
        <p:txBody>
          <a:bodyPr wrap="square" lIns="0" tIns="0" rIns="0" bIns="0" rtlCol="0" anchor="ctr">
            <a:normAutofit/>
          </a:bodyPr>
          <a:lstStyle/>
          <a:p>
            <a:pPr algn="ctr" indent="0" marL="0">
              <a:lnSpc>
                <a:spcPts val="1300"/>
              </a:lnSpc>
              <a:buNone/>
            </a:pPr>
            <a:r>
              <a:rPr lang="en-US" sz="1300" dirty="0">
                <a:solidFill>
                  <a:srgbClr val="FFFFFF"/>
                </a:solidFill>
                <a:latin typeface="Dax Pro" pitchFamily="34" charset="0"/>
                <a:ea typeface="Dax Pro" pitchFamily="34" charset="-122"/>
                <a:cs typeface="Dax Pro" pitchFamily="34" charset="-120"/>
              </a:rPr>
              <a:t>5</a:t>
            </a:r>
            <a:endParaRPr lang="en-US" sz="1300" dirty="0"/>
          </a:p>
        </p:txBody>
      </p:sp>
      <p:sp>
        <p:nvSpPr>
          <p:cNvPr id="15" name="Text 12"/>
          <p:cNvSpPr/>
          <p:nvPr/>
        </p:nvSpPr>
        <p:spPr>
          <a:xfrm>
            <a:off x="6731000" y="3689967"/>
            <a:ext cx="2639695" cy="265421"/>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1E1E1E"/>
                </a:solidFill>
                <a:latin typeface="Dax Pro" pitchFamily="34" charset="0"/>
                <a:ea typeface="Dax Pro" pitchFamily="34" charset="-122"/>
                <a:cs typeface="Dax Pro" pitchFamily="34" charset="-120"/>
              </a:rPr>
              <a:t>Progress across all their areas</a:t>
            </a:r>
            <a:endParaRPr lang="en-US" sz="1400" dirty="0"/>
          </a:p>
        </p:txBody>
      </p:sp>
      <p:sp>
        <p:nvSpPr>
          <p:cNvPr id="16" name="Text 13"/>
          <p:cNvSpPr/>
          <p:nvPr/>
        </p:nvSpPr>
        <p:spPr>
          <a:xfrm>
            <a:off x="6273800" y="4114800"/>
            <a:ext cx="330200" cy="330200"/>
          </a:xfrm>
          <a:prstGeom prst="roundRect">
            <a:avLst>
              <a:gd name="adj" fmla="val 50000"/>
            </a:avLst>
          </a:prstGeom>
          <a:solidFill>
            <a:srgbClr val="0079C1"/>
          </a:solidFill>
          <a:ln/>
        </p:spPr>
        <p:txBody>
          <a:bodyPr wrap="square" lIns="0" tIns="0" rIns="0" bIns="0" rtlCol="0" anchor="ctr">
            <a:normAutofit/>
          </a:bodyPr>
          <a:lstStyle/>
          <a:p>
            <a:pPr algn="ctr" indent="0" marL="0">
              <a:lnSpc>
                <a:spcPts val="1300"/>
              </a:lnSpc>
              <a:buNone/>
            </a:pPr>
            <a:r>
              <a:rPr lang="en-US" sz="1300" dirty="0">
                <a:solidFill>
                  <a:srgbClr val="FFFFFF"/>
                </a:solidFill>
                <a:latin typeface="Dax Pro" pitchFamily="34" charset="0"/>
                <a:ea typeface="Dax Pro" pitchFamily="34" charset="-122"/>
                <a:cs typeface="Dax Pro" pitchFamily="34" charset="-120"/>
              </a:rPr>
              <a:t>6</a:t>
            </a:r>
            <a:endParaRPr lang="en-US" sz="1300" dirty="0"/>
          </a:p>
        </p:txBody>
      </p:sp>
      <p:sp>
        <p:nvSpPr>
          <p:cNvPr id="17" name="Text 14"/>
          <p:cNvSpPr/>
          <p:nvPr/>
        </p:nvSpPr>
        <p:spPr>
          <a:xfrm>
            <a:off x="6731000" y="4159867"/>
            <a:ext cx="2385166" cy="265421"/>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1E1E1E"/>
                </a:solidFill>
                <a:latin typeface="Dax Pro" pitchFamily="34" charset="0"/>
                <a:ea typeface="Dax Pro" pitchFamily="34" charset="-122"/>
                <a:cs typeface="Dax Pro" pitchFamily="34" charset="-120"/>
              </a:rPr>
              <a:t>One final statement to tick</a:t>
            </a:r>
            <a:endParaRPr lang="en-US" sz="1400" dirty="0"/>
          </a:p>
        </p:txBody>
      </p:sp>
      <p:sp>
        <p:nvSpPr>
          <p:cNvPr id="18" name="Text 15"/>
          <p:cNvSpPr/>
          <p:nvPr/>
        </p:nvSpPr>
        <p:spPr>
          <a:xfrm>
            <a:off x="6273800" y="4584700"/>
            <a:ext cx="330200" cy="330200"/>
          </a:xfrm>
          <a:prstGeom prst="roundRect">
            <a:avLst>
              <a:gd name="adj" fmla="val 50000"/>
            </a:avLst>
          </a:prstGeom>
          <a:solidFill>
            <a:srgbClr val="0079C1"/>
          </a:solidFill>
          <a:ln/>
        </p:spPr>
        <p:txBody>
          <a:bodyPr wrap="square" lIns="0" tIns="0" rIns="0" bIns="0" rtlCol="0" anchor="ctr">
            <a:normAutofit/>
          </a:bodyPr>
          <a:lstStyle/>
          <a:p>
            <a:pPr algn="ctr" indent="0" marL="0">
              <a:lnSpc>
                <a:spcPts val="1300"/>
              </a:lnSpc>
              <a:buNone/>
            </a:pPr>
            <a:r>
              <a:rPr lang="en-US" sz="1300" dirty="0">
                <a:solidFill>
                  <a:srgbClr val="FFFFFF"/>
                </a:solidFill>
                <a:latin typeface="Dax Pro" pitchFamily="34" charset="0"/>
                <a:ea typeface="Dax Pro" pitchFamily="34" charset="-122"/>
                <a:cs typeface="Dax Pro" pitchFamily="34" charset="-120"/>
              </a:rPr>
              <a:t>7</a:t>
            </a:r>
            <a:endParaRPr lang="en-US" sz="1300" dirty="0"/>
          </a:p>
        </p:txBody>
      </p:sp>
      <p:sp>
        <p:nvSpPr>
          <p:cNvPr id="19" name="Text 16"/>
          <p:cNvSpPr/>
          <p:nvPr/>
        </p:nvSpPr>
        <p:spPr>
          <a:xfrm>
            <a:off x="6731000" y="4629767"/>
            <a:ext cx="625581" cy="265421"/>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1E1E1E"/>
                </a:solidFill>
                <a:latin typeface="Dax Pro" pitchFamily="34" charset="0"/>
                <a:ea typeface="Dax Pro" pitchFamily="34" charset="-122"/>
                <a:cs typeface="Dax Pro" pitchFamily="34" charset="-120"/>
              </a:rPr>
              <a:t>Submit</a:t>
            </a:r>
            <a:endParaRPr lang="en-US" sz="1400" dirty="0"/>
          </a:p>
        </p:txBody>
      </p:sp>
      <p:pic>
        <p:nvPicPr>
          <p:cNvPr id="20" name="Image 1" descr="BMO">    </p:cNvPr>
          <p:cNvPicPr>
            <a:picLocks noChangeAspect="1"/>
          </p:cNvPicPr>
          <p:nvPr/>
        </p:nvPicPr>
        <p:blipFill>
          <a:blip r:embed="rId2"/>
          <a:srcRect l="-658" r="-658" t="0" b="0"/>
          <a:stretch/>
        </p:blipFill>
        <p:spPr>
          <a:xfrm>
            <a:off x="762000" y="6464300"/>
            <a:ext cx="698500" cy="241300"/>
          </a:xfrm>
          <a:prstGeom prst="rect">
            <a:avLst/>
          </a:prstGeom>
        </p:spPr>
      </p:pic>
      <p:sp>
        <p:nvSpPr>
          <p:cNvPr id="21" name="Text 17"/>
          <p:cNvSpPr/>
          <p:nvPr/>
        </p:nvSpPr>
        <p:spPr>
          <a:xfrm>
            <a:off x="8966200" y="6489700"/>
            <a:ext cx="2616200" cy="203200"/>
          </a:xfrm>
          <a:prstGeom prst="rect">
            <a:avLst/>
          </a:prstGeom>
          <a:noFill/>
          <a:ln/>
        </p:spPr>
        <p:txBody>
          <a:bodyPr wrap="square" lIns="0" tIns="0" rIns="0" bIns="0" rtlCol="0" anchor="t">
            <a:normAutofit/>
          </a:bodyPr>
          <a:lstStyle/>
          <a:p>
            <a:pPr algn="r" indent="0" marL="0">
              <a:lnSpc>
                <a:spcPts val="1400"/>
              </a:lnSpc>
              <a:buNone/>
            </a:pPr>
            <a:r>
              <a:rPr lang="en-US" sz="1000" dirty="0">
                <a:solidFill>
                  <a:srgbClr val="707070"/>
                </a:solidFill>
                <a:latin typeface="Dax Pro" pitchFamily="34" charset="0"/>
                <a:ea typeface="Dax Pro" pitchFamily="34" charset="-122"/>
                <a:cs typeface="Dax Pro" pitchFamily="34" charset="-120"/>
              </a:rPr>
              <a:t>Internal    1</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52400" cy="6858000"/>
          </a:xfrm>
          <a:prstGeom prst="rect">
            <a:avLst/>
          </a:prstGeom>
          <a:gradFill rotWithShape="1">
            <a:gsLst>
              <a:gs pos="0">
                <a:srgbClr val="004068"/>
              </a:gs>
              <a:gs pos="100000">
                <a:srgbClr val="0079C1"/>
              </a:gs>
            </a:gsLst>
            <a:lin ang="5400000" scaled="0"/>
          </a:gradFill>
          <a:ln/>
        </p:spPr>
      </p:sp>
      <p:sp>
        <p:nvSpPr>
          <p:cNvPr id="3" name="Text 1"/>
          <p:cNvSpPr/>
          <p:nvPr>
            <p:ph type="title"/>
          </p:nvPr>
        </p:nvSpPr>
        <p:spPr>
          <a:xfrm>
            <a:off x="762000" y="457200"/>
            <a:ext cx="11145012" cy="463550"/>
          </a:xfrm>
          <a:prstGeom prst="rect">
            <a:avLst/>
          </a:prstGeom>
          <a:noFill/>
          <a:ln/>
        </p:spPr>
        <p:txBody>
          <a:bodyPr wrap="square" lIns="0" tIns="0" rIns="0" bIns="0" rtlCol="0" anchor="t">
            <a:normAutofit/>
          </a:bodyPr>
          <a:lstStyle/>
          <a:p>
            <a:pPr algn="l" indent="0" marL="0">
              <a:lnSpc>
                <a:spcPts val="3450"/>
              </a:lnSpc>
              <a:buNone/>
            </a:pPr>
            <a:r>
              <a:rPr lang="en-US" sz="3000" b="0" i="0" dirty="0">
                <a:solidFill>
                  <a:srgbClr val="1E1E1E"/>
                </a:solidFill>
                <a:latin typeface="Dax Pro" pitchFamily="34" charset="0"/>
                <a:ea typeface="Dax Pro" pitchFamily="34" charset="-122"/>
                <a:cs typeface="Dax Pro" pitchFamily="34" charset="-120"/>
              </a:rPr>
              <a:t>Each area shows its zone and two choices</a:t>
            </a:r>
            <a:endParaRPr lang="en-US" sz="3000" dirty="0"/>
          </a:p>
        </p:txBody>
      </p:sp>
      <p:sp>
        <p:nvSpPr>
          <p:cNvPr id="4" name="Shape 2"/>
          <p:cNvSpPr/>
          <p:nvPr/>
        </p:nvSpPr>
        <p:spPr>
          <a:xfrm>
            <a:off x="762000" y="1149350"/>
            <a:ext cx="10820400" cy="3048000"/>
          </a:xfrm>
          <a:prstGeom prst="rect">
            <a:avLst/>
          </a:prstGeom>
          <a:solidFill>
            <a:srgbClr val="E6F2FA"/>
          </a:solidFill>
          <a:ln/>
        </p:spPr>
      </p:sp>
      <p:pic>
        <p:nvPicPr>
          <p:cNvPr id="5" name="Image 0" descr="One area card with numbered markers 1 to 5">    </p:cNvPr>
          <p:cNvPicPr>
            <a:picLocks noChangeAspect="1"/>
          </p:cNvPicPr>
          <p:nvPr/>
        </p:nvPicPr>
        <p:blipFill>
          <a:blip r:embed="rId1"/>
          <a:srcRect l="0" r="0" t="-51" b="-51"/>
          <a:stretch/>
        </p:blipFill>
        <p:spPr>
          <a:xfrm>
            <a:off x="850900" y="1238250"/>
            <a:ext cx="10642600" cy="2870200"/>
          </a:xfrm>
          <a:prstGeom prst="rect">
            <a:avLst/>
          </a:prstGeom>
        </p:spPr>
      </p:pic>
      <p:sp>
        <p:nvSpPr>
          <p:cNvPr id="6" name="Text 3"/>
          <p:cNvSpPr/>
          <p:nvPr/>
        </p:nvSpPr>
        <p:spPr>
          <a:xfrm>
            <a:off x="762000" y="4451350"/>
            <a:ext cx="330200" cy="330200"/>
          </a:xfrm>
          <a:prstGeom prst="roundRect">
            <a:avLst>
              <a:gd name="adj" fmla="val 50000"/>
            </a:avLst>
          </a:prstGeom>
          <a:solidFill>
            <a:srgbClr val="0079C1"/>
          </a:solidFill>
          <a:ln/>
        </p:spPr>
        <p:txBody>
          <a:bodyPr wrap="square" lIns="0" tIns="0" rIns="0" bIns="0" rtlCol="0" anchor="ctr">
            <a:normAutofit/>
          </a:bodyPr>
          <a:lstStyle/>
          <a:p>
            <a:pPr algn="ctr" indent="0" marL="0">
              <a:lnSpc>
                <a:spcPts val="1300"/>
              </a:lnSpc>
              <a:buNone/>
            </a:pPr>
            <a:r>
              <a:rPr lang="en-US" sz="1300" dirty="0">
                <a:solidFill>
                  <a:srgbClr val="FFFFFF"/>
                </a:solidFill>
                <a:latin typeface="Dax Pro" pitchFamily="34" charset="0"/>
                <a:ea typeface="Dax Pro" pitchFamily="34" charset="-122"/>
                <a:cs typeface="Dax Pro" pitchFamily="34" charset="-120"/>
              </a:rPr>
              <a:t>1</a:t>
            </a:r>
            <a:endParaRPr lang="en-US" sz="1300" dirty="0"/>
          </a:p>
        </p:txBody>
      </p:sp>
      <p:sp>
        <p:nvSpPr>
          <p:cNvPr id="7" name="Text 4"/>
          <p:cNvSpPr/>
          <p:nvPr/>
        </p:nvSpPr>
        <p:spPr>
          <a:xfrm>
            <a:off x="1193800" y="4451350"/>
            <a:ext cx="1620485" cy="471135"/>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1E1E1E"/>
                </a:solidFill>
                <a:latin typeface="Dax Pro" pitchFamily="34" charset="0"/>
                <a:ea typeface="Dax Pro" pitchFamily="34" charset="-122"/>
                <a:cs typeface="Dax Pro" pitchFamily="34" charset="-120"/>
              </a:rPr>
              <a:t>The area, tinted in its zone's colour</a:t>
            </a:r>
            <a:endParaRPr lang="en-US" sz="1300" dirty="0"/>
          </a:p>
        </p:txBody>
      </p:sp>
      <p:sp>
        <p:nvSpPr>
          <p:cNvPr id="8" name="Text 5"/>
          <p:cNvSpPr/>
          <p:nvPr/>
        </p:nvSpPr>
        <p:spPr>
          <a:xfrm>
            <a:off x="2966685" y="4451350"/>
            <a:ext cx="330200" cy="330200"/>
          </a:xfrm>
          <a:prstGeom prst="roundRect">
            <a:avLst>
              <a:gd name="adj" fmla="val 50000"/>
            </a:avLst>
          </a:prstGeom>
          <a:solidFill>
            <a:srgbClr val="0079C1"/>
          </a:solidFill>
          <a:ln/>
        </p:spPr>
        <p:txBody>
          <a:bodyPr wrap="square" lIns="0" tIns="0" rIns="0" bIns="0" rtlCol="0" anchor="ctr">
            <a:normAutofit/>
          </a:bodyPr>
          <a:lstStyle/>
          <a:p>
            <a:pPr algn="ctr" indent="0" marL="0">
              <a:lnSpc>
                <a:spcPts val="1300"/>
              </a:lnSpc>
              <a:buNone/>
            </a:pPr>
            <a:r>
              <a:rPr lang="en-US" sz="1300" dirty="0">
                <a:solidFill>
                  <a:srgbClr val="FFFFFF"/>
                </a:solidFill>
                <a:latin typeface="Dax Pro" pitchFamily="34" charset="0"/>
                <a:ea typeface="Dax Pro" pitchFamily="34" charset="-122"/>
                <a:cs typeface="Dax Pro" pitchFamily="34" charset="-120"/>
              </a:rPr>
              <a:t>2</a:t>
            </a:r>
            <a:endParaRPr lang="en-US" sz="1300" dirty="0"/>
          </a:p>
        </p:txBody>
      </p:sp>
      <p:sp>
        <p:nvSpPr>
          <p:cNvPr id="9" name="Text 6"/>
          <p:cNvSpPr/>
          <p:nvPr/>
        </p:nvSpPr>
        <p:spPr>
          <a:xfrm>
            <a:off x="3398485" y="4451350"/>
            <a:ext cx="1327626" cy="248267"/>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1E1E1E"/>
                </a:solidFill>
                <a:latin typeface="Dax Pro" pitchFamily="34" charset="0"/>
                <a:ea typeface="Dax Pro" pitchFamily="34" charset="-122"/>
                <a:cs typeface="Dax Pro" pitchFamily="34" charset="-120"/>
              </a:rPr>
              <a:t>The zone on file</a:t>
            </a:r>
            <a:endParaRPr lang="en-US" sz="1300" dirty="0"/>
          </a:p>
        </p:txBody>
      </p:sp>
      <p:sp>
        <p:nvSpPr>
          <p:cNvPr id="10" name="Text 7"/>
          <p:cNvSpPr/>
          <p:nvPr/>
        </p:nvSpPr>
        <p:spPr>
          <a:xfrm>
            <a:off x="5171413" y="4451350"/>
            <a:ext cx="330200" cy="330200"/>
          </a:xfrm>
          <a:prstGeom prst="roundRect">
            <a:avLst>
              <a:gd name="adj" fmla="val 50000"/>
            </a:avLst>
          </a:prstGeom>
          <a:solidFill>
            <a:srgbClr val="0079C1"/>
          </a:solidFill>
          <a:ln/>
        </p:spPr>
        <p:txBody>
          <a:bodyPr wrap="square" lIns="0" tIns="0" rIns="0" bIns="0" rtlCol="0" anchor="ctr">
            <a:normAutofit/>
          </a:bodyPr>
          <a:lstStyle/>
          <a:p>
            <a:pPr algn="ctr" indent="0" marL="0">
              <a:lnSpc>
                <a:spcPts val="1300"/>
              </a:lnSpc>
              <a:buNone/>
            </a:pPr>
            <a:r>
              <a:rPr lang="en-US" sz="1300" dirty="0">
                <a:solidFill>
                  <a:srgbClr val="FFFFFF"/>
                </a:solidFill>
                <a:latin typeface="Dax Pro" pitchFamily="34" charset="0"/>
                <a:ea typeface="Dax Pro" pitchFamily="34" charset="-122"/>
                <a:cs typeface="Dax Pro" pitchFamily="34" charset="-120"/>
              </a:rPr>
              <a:t>3</a:t>
            </a:r>
            <a:endParaRPr lang="en-US" sz="1300" dirty="0"/>
          </a:p>
        </p:txBody>
      </p:sp>
      <p:sp>
        <p:nvSpPr>
          <p:cNvPr id="11" name="Text 8"/>
          <p:cNvSpPr/>
          <p:nvPr/>
        </p:nvSpPr>
        <p:spPr>
          <a:xfrm>
            <a:off x="5603213" y="4451350"/>
            <a:ext cx="1772929" cy="248267"/>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1E1E1E"/>
                </a:solidFill>
                <a:latin typeface="Dax Pro" pitchFamily="34" charset="0"/>
                <a:ea typeface="Dax Pro" pitchFamily="34" charset="-122"/>
                <a:cs typeface="Dax Pro" pitchFamily="34" charset="-120"/>
              </a:rPr>
              <a:t>What that zone means</a:t>
            </a:r>
            <a:endParaRPr lang="en-US" sz="1300" dirty="0"/>
          </a:p>
        </p:txBody>
      </p:sp>
      <p:sp>
        <p:nvSpPr>
          <p:cNvPr id="12" name="Text 9"/>
          <p:cNvSpPr/>
          <p:nvPr/>
        </p:nvSpPr>
        <p:spPr>
          <a:xfrm>
            <a:off x="7376143" y="4451350"/>
            <a:ext cx="330200" cy="330200"/>
          </a:xfrm>
          <a:prstGeom prst="roundRect">
            <a:avLst>
              <a:gd name="adj" fmla="val 50000"/>
            </a:avLst>
          </a:prstGeom>
          <a:solidFill>
            <a:srgbClr val="0079C1"/>
          </a:solidFill>
          <a:ln/>
        </p:spPr>
        <p:txBody>
          <a:bodyPr wrap="square" lIns="0" tIns="0" rIns="0" bIns="0" rtlCol="0" anchor="ctr">
            <a:normAutofit/>
          </a:bodyPr>
          <a:lstStyle/>
          <a:p>
            <a:pPr algn="ctr" indent="0" marL="0">
              <a:lnSpc>
                <a:spcPts val="1300"/>
              </a:lnSpc>
              <a:buNone/>
            </a:pPr>
            <a:r>
              <a:rPr lang="en-US" sz="1300" dirty="0">
                <a:solidFill>
                  <a:srgbClr val="FFFFFF"/>
                </a:solidFill>
                <a:latin typeface="Dax Pro" pitchFamily="34" charset="0"/>
                <a:ea typeface="Dax Pro" pitchFamily="34" charset="-122"/>
                <a:cs typeface="Dax Pro" pitchFamily="34" charset="-120"/>
              </a:rPr>
              <a:t>4</a:t>
            </a:r>
            <a:endParaRPr lang="en-US" sz="1300" dirty="0"/>
          </a:p>
        </p:txBody>
      </p:sp>
      <p:sp>
        <p:nvSpPr>
          <p:cNvPr id="13" name="Text 10"/>
          <p:cNvSpPr/>
          <p:nvPr/>
        </p:nvSpPr>
        <p:spPr>
          <a:xfrm>
            <a:off x="7807943" y="4451350"/>
            <a:ext cx="1605809" cy="248267"/>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1E1E1E"/>
                </a:solidFill>
                <a:latin typeface="Dax Pro" pitchFamily="34" charset="0"/>
                <a:ea typeface="Dax Pro" pitchFamily="34" charset="-122"/>
                <a:cs typeface="Dax Pro" pitchFamily="34" charset="-120"/>
              </a:rPr>
              <a:t>Confirm it is correct</a:t>
            </a:r>
            <a:endParaRPr lang="en-US" sz="1300" dirty="0"/>
          </a:p>
        </p:txBody>
      </p:sp>
      <p:sp>
        <p:nvSpPr>
          <p:cNvPr id="14" name="Text 11"/>
          <p:cNvSpPr/>
          <p:nvPr/>
        </p:nvSpPr>
        <p:spPr>
          <a:xfrm>
            <a:off x="9580871" y="4451350"/>
            <a:ext cx="330200" cy="330200"/>
          </a:xfrm>
          <a:prstGeom prst="roundRect">
            <a:avLst>
              <a:gd name="adj" fmla="val 50000"/>
            </a:avLst>
          </a:prstGeom>
          <a:solidFill>
            <a:srgbClr val="0079C1"/>
          </a:solidFill>
          <a:ln/>
        </p:spPr>
        <p:txBody>
          <a:bodyPr wrap="square" lIns="0" tIns="0" rIns="0" bIns="0" rtlCol="0" anchor="ctr">
            <a:normAutofit/>
          </a:bodyPr>
          <a:lstStyle/>
          <a:p>
            <a:pPr algn="ctr" indent="0" marL="0">
              <a:lnSpc>
                <a:spcPts val="1300"/>
              </a:lnSpc>
              <a:buNone/>
            </a:pPr>
            <a:r>
              <a:rPr lang="en-US" sz="1300" dirty="0">
                <a:solidFill>
                  <a:srgbClr val="FFFFFF"/>
                </a:solidFill>
                <a:latin typeface="Dax Pro" pitchFamily="34" charset="0"/>
                <a:ea typeface="Dax Pro" pitchFamily="34" charset="-122"/>
                <a:cs typeface="Dax Pro" pitchFamily="34" charset="-120"/>
              </a:rPr>
              <a:t>5</a:t>
            </a:r>
            <a:endParaRPr lang="en-US" sz="1300" dirty="0"/>
          </a:p>
        </p:txBody>
      </p:sp>
      <p:sp>
        <p:nvSpPr>
          <p:cNvPr id="15" name="Text 12"/>
          <p:cNvSpPr/>
          <p:nvPr/>
        </p:nvSpPr>
        <p:spPr>
          <a:xfrm>
            <a:off x="10012671" y="4451350"/>
            <a:ext cx="1001342" cy="248267"/>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1E1E1E"/>
                </a:solidFill>
                <a:latin typeface="Dax Pro" pitchFamily="34" charset="0"/>
                <a:ea typeface="Dax Pro" pitchFamily="34" charset="-122"/>
                <a:cs typeface="Dax Pro" pitchFamily="34" charset="-120"/>
              </a:rPr>
              <a:t>Or change it</a:t>
            </a:r>
            <a:endParaRPr lang="en-US" sz="1300" dirty="0"/>
          </a:p>
        </p:txBody>
      </p:sp>
      <p:pic>
        <p:nvPicPr>
          <p:cNvPr id="16" name="Image 1" descr="BMO">    </p:cNvPr>
          <p:cNvPicPr>
            <a:picLocks noChangeAspect="1"/>
          </p:cNvPicPr>
          <p:nvPr/>
        </p:nvPicPr>
        <p:blipFill>
          <a:blip r:embed="rId2"/>
          <a:srcRect l="-658" r="-658" t="0" b="0"/>
          <a:stretch/>
        </p:blipFill>
        <p:spPr>
          <a:xfrm>
            <a:off x="762000" y="6464300"/>
            <a:ext cx="698500" cy="241300"/>
          </a:xfrm>
          <a:prstGeom prst="rect">
            <a:avLst/>
          </a:prstGeom>
        </p:spPr>
      </p:pic>
      <p:sp>
        <p:nvSpPr>
          <p:cNvPr id="17" name="Text 13"/>
          <p:cNvSpPr/>
          <p:nvPr/>
        </p:nvSpPr>
        <p:spPr>
          <a:xfrm>
            <a:off x="8966200" y="6489700"/>
            <a:ext cx="2616200" cy="203200"/>
          </a:xfrm>
          <a:prstGeom prst="rect">
            <a:avLst/>
          </a:prstGeom>
          <a:noFill/>
          <a:ln/>
        </p:spPr>
        <p:txBody>
          <a:bodyPr wrap="square" lIns="0" tIns="0" rIns="0" bIns="0" rtlCol="0" anchor="t">
            <a:normAutofit/>
          </a:bodyPr>
          <a:lstStyle/>
          <a:p>
            <a:pPr algn="r" indent="0" marL="0">
              <a:lnSpc>
                <a:spcPts val="1400"/>
              </a:lnSpc>
              <a:buNone/>
            </a:pPr>
            <a:r>
              <a:rPr lang="en-US" sz="1000" dirty="0">
                <a:solidFill>
                  <a:srgbClr val="707070"/>
                </a:solidFill>
                <a:latin typeface="Dax Pro" pitchFamily="34" charset="0"/>
                <a:ea typeface="Dax Pro" pitchFamily="34" charset="-122"/>
                <a:cs typeface="Dax Pro" pitchFamily="34" charset="-120"/>
              </a:rPr>
              <a:t>Internal    2</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52400" cy="6858000"/>
          </a:xfrm>
          <a:prstGeom prst="rect">
            <a:avLst/>
          </a:prstGeom>
          <a:gradFill rotWithShape="1">
            <a:gsLst>
              <a:gs pos="0">
                <a:srgbClr val="004068"/>
              </a:gs>
              <a:gs pos="100000">
                <a:srgbClr val="0079C1"/>
              </a:gs>
            </a:gsLst>
            <a:lin ang="5400000" scaled="0"/>
          </a:gradFill>
          <a:ln/>
        </p:spPr>
      </p:sp>
      <p:sp>
        <p:nvSpPr>
          <p:cNvPr id="3" name="Text 1"/>
          <p:cNvSpPr/>
          <p:nvPr>
            <p:ph type="title"/>
          </p:nvPr>
        </p:nvSpPr>
        <p:spPr>
          <a:xfrm>
            <a:off x="762000" y="457200"/>
            <a:ext cx="11145012" cy="463550"/>
          </a:xfrm>
          <a:prstGeom prst="rect">
            <a:avLst/>
          </a:prstGeom>
          <a:noFill/>
          <a:ln/>
        </p:spPr>
        <p:txBody>
          <a:bodyPr wrap="square" lIns="0" tIns="0" rIns="0" bIns="0" rtlCol="0" anchor="t">
            <a:normAutofit/>
          </a:bodyPr>
          <a:lstStyle/>
          <a:p>
            <a:pPr algn="l" indent="0" marL="0">
              <a:lnSpc>
                <a:spcPts val="3450"/>
              </a:lnSpc>
              <a:buNone/>
            </a:pPr>
            <a:r>
              <a:rPr lang="en-US" sz="3000" b="0" i="0" dirty="0">
                <a:solidFill>
                  <a:srgbClr val="1E1E1E"/>
                </a:solidFill>
                <a:latin typeface="Dax Pro" pitchFamily="34" charset="0"/>
                <a:ea typeface="Dax Pro" pitchFamily="34" charset="-122"/>
                <a:cs typeface="Dax Pro" pitchFamily="34" charset="-120"/>
              </a:rPr>
              <a:t>If the zone is right, one tick confirms it</a:t>
            </a:r>
            <a:endParaRPr lang="en-US" sz="3000" dirty="0"/>
          </a:p>
        </p:txBody>
      </p:sp>
      <p:sp>
        <p:nvSpPr>
          <p:cNvPr id="4" name="Text 2"/>
          <p:cNvSpPr/>
          <p:nvPr/>
        </p:nvSpPr>
        <p:spPr>
          <a:xfrm>
            <a:off x="762000" y="2111375"/>
            <a:ext cx="2747010" cy="311150"/>
          </a:xfrm>
          <a:prstGeom prst="rect">
            <a:avLst/>
          </a:prstGeom>
          <a:noFill/>
          <a:ln/>
        </p:spPr>
        <p:txBody>
          <a:bodyPr wrap="square" lIns="0" tIns="0" rIns="0" bIns="0" rtlCol="0" anchor="t">
            <a:normAutofit/>
          </a:bodyPr>
          <a:lstStyle/>
          <a:p>
            <a:pPr algn="l" indent="0" marL="0">
              <a:lnSpc>
                <a:spcPts val="2250"/>
              </a:lnSpc>
              <a:buNone/>
            </a:pPr>
            <a:r>
              <a:rPr lang="en-US" sz="1800" dirty="0">
                <a:solidFill>
                  <a:srgbClr val="0079C1"/>
                </a:solidFill>
                <a:latin typeface="Dax Pro" pitchFamily="34" charset="0"/>
                <a:ea typeface="Dax Pro" pitchFamily="34" charset="-122"/>
                <a:cs typeface="Dax Pro" pitchFamily="34" charset="-120"/>
              </a:rPr>
              <a:t>Before</a:t>
            </a:r>
            <a:endParaRPr lang="en-US" sz="1800" dirty="0"/>
          </a:p>
        </p:txBody>
      </p:sp>
      <p:sp>
        <p:nvSpPr>
          <p:cNvPr id="5" name="Shape 3"/>
          <p:cNvSpPr/>
          <p:nvPr/>
        </p:nvSpPr>
        <p:spPr>
          <a:xfrm>
            <a:off x="3733800" y="1098550"/>
            <a:ext cx="7848600" cy="2311400"/>
          </a:xfrm>
          <a:prstGeom prst="rect">
            <a:avLst/>
          </a:prstGeom>
          <a:solidFill>
            <a:srgbClr val="E6F2FA"/>
          </a:solidFill>
          <a:ln/>
        </p:spPr>
      </p:sp>
      <p:pic>
        <p:nvPicPr>
          <p:cNvPr id="6" name="Image 0" descr="An unanswered card">    </p:cNvPr>
          <p:cNvPicPr>
            <a:picLocks noChangeAspect="1"/>
          </p:cNvPicPr>
          <p:nvPr/>
        </p:nvPicPr>
        <p:blipFill>
          <a:blip r:embed="rId1"/>
          <a:srcRect l="-46" r="-46" t="0" b="0"/>
          <a:stretch/>
        </p:blipFill>
        <p:spPr>
          <a:xfrm>
            <a:off x="4165600" y="1174750"/>
            <a:ext cx="6985000" cy="2159000"/>
          </a:xfrm>
          <a:prstGeom prst="rect">
            <a:avLst/>
          </a:prstGeom>
        </p:spPr>
      </p:pic>
      <p:sp>
        <p:nvSpPr>
          <p:cNvPr id="7" name="Text 4"/>
          <p:cNvSpPr/>
          <p:nvPr/>
        </p:nvSpPr>
        <p:spPr>
          <a:xfrm>
            <a:off x="762000" y="4363112"/>
            <a:ext cx="2747010" cy="311150"/>
          </a:xfrm>
          <a:prstGeom prst="rect">
            <a:avLst/>
          </a:prstGeom>
          <a:noFill/>
          <a:ln/>
        </p:spPr>
        <p:txBody>
          <a:bodyPr wrap="square" lIns="0" tIns="0" rIns="0" bIns="0" rtlCol="0" anchor="t">
            <a:normAutofit/>
          </a:bodyPr>
          <a:lstStyle/>
          <a:p>
            <a:pPr algn="l" indent="0" marL="0">
              <a:lnSpc>
                <a:spcPts val="2250"/>
              </a:lnSpc>
              <a:buNone/>
            </a:pPr>
            <a:r>
              <a:rPr lang="en-US" sz="1800" dirty="0">
                <a:solidFill>
                  <a:srgbClr val="0079C1"/>
                </a:solidFill>
                <a:latin typeface="Dax Pro" pitchFamily="34" charset="0"/>
                <a:ea typeface="Dax Pro" pitchFamily="34" charset="-122"/>
                <a:cs typeface="Dax Pro" pitchFamily="34" charset="-120"/>
              </a:rPr>
              <a:t>After</a:t>
            </a:r>
            <a:endParaRPr lang="en-US" sz="1800" dirty="0"/>
          </a:p>
        </p:txBody>
      </p:sp>
      <p:sp>
        <p:nvSpPr>
          <p:cNvPr id="8" name="Text 5"/>
          <p:cNvSpPr/>
          <p:nvPr/>
        </p:nvSpPr>
        <p:spPr>
          <a:xfrm>
            <a:off x="762000" y="4725062"/>
            <a:ext cx="2747010" cy="487627"/>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E4E4E"/>
                </a:solidFill>
                <a:latin typeface="Dax Pro" pitchFamily="34" charset="0"/>
                <a:ea typeface="Dax Pro" pitchFamily="34" charset="-122"/>
                <a:cs typeface="Dax Pro" pitchFamily="34" charset="-120"/>
              </a:rPr>
              <a:t>Green box, a Confirmed badge, and the blue band settles to grey.</a:t>
            </a:r>
            <a:endParaRPr lang="en-US" sz="1300" dirty="0"/>
          </a:p>
        </p:txBody>
      </p:sp>
      <p:sp>
        <p:nvSpPr>
          <p:cNvPr id="9" name="Shape 6"/>
          <p:cNvSpPr/>
          <p:nvPr/>
        </p:nvSpPr>
        <p:spPr>
          <a:xfrm>
            <a:off x="3733800" y="3613150"/>
            <a:ext cx="7848600" cy="2324100"/>
          </a:xfrm>
          <a:prstGeom prst="rect">
            <a:avLst/>
          </a:prstGeom>
          <a:solidFill>
            <a:srgbClr val="E6F2FA"/>
          </a:solidFill>
          <a:ln/>
        </p:spPr>
      </p:sp>
      <p:pic>
        <p:nvPicPr>
          <p:cNvPr id="10" name="Image 1" descr="The same card confirmed">    </p:cNvPr>
          <p:cNvPicPr>
            <a:picLocks noChangeAspect="1"/>
          </p:cNvPicPr>
          <p:nvPr/>
        </p:nvPicPr>
        <p:blipFill>
          <a:blip r:embed="rId2"/>
          <a:srcRect l="-88" r="-88" t="0" b="0"/>
          <a:stretch/>
        </p:blipFill>
        <p:spPr>
          <a:xfrm>
            <a:off x="4165600" y="3689350"/>
            <a:ext cx="6985000" cy="2171700"/>
          </a:xfrm>
          <a:prstGeom prst="rect">
            <a:avLst/>
          </a:prstGeom>
        </p:spPr>
      </p:pic>
      <p:pic>
        <p:nvPicPr>
          <p:cNvPr id="11" name="Image 2" descr="BMO">    </p:cNvPr>
          <p:cNvPicPr>
            <a:picLocks noChangeAspect="1"/>
          </p:cNvPicPr>
          <p:nvPr/>
        </p:nvPicPr>
        <p:blipFill>
          <a:blip r:embed="rId3"/>
          <a:srcRect l="-658" r="-658" t="0" b="0"/>
          <a:stretch/>
        </p:blipFill>
        <p:spPr>
          <a:xfrm>
            <a:off x="762000" y="6464300"/>
            <a:ext cx="698500" cy="241300"/>
          </a:xfrm>
          <a:prstGeom prst="rect">
            <a:avLst/>
          </a:prstGeom>
        </p:spPr>
      </p:pic>
      <p:sp>
        <p:nvSpPr>
          <p:cNvPr id="12" name="Text 7"/>
          <p:cNvSpPr/>
          <p:nvPr/>
        </p:nvSpPr>
        <p:spPr>
          <a:xfrm>
            <a:off x="8966200" y="6489700"/>
            <a:ext cx="2616200" cy="203200"/>
          </a:xfrm>
          <a:prstGeom prst="rect">
            <a:avLst/>
          </a:prstGeom>
          <a:noFill/>
          <a:ln/>
        </p:spPr>
        <p:txBody>
          <a:bodyPr wrap="square" lIns="0" tIns="0" rIns="0" bIns="0" rtlCol="0" anchor="t">
            <a:normAutofit/>
          </a:bodyPr>
          <a:lstStyle/>
          <a:p>
            <a:pPr algn="r" indent="0" marL="0">
              <a:lnSpc>
                <a:spcPts val="1400"/>
              </a:lnSpc>
              <a:buNone/>
            </a:pPr>
            <a:r>
              <a:rPr lang="en-US" sz="1000" dirty="0">
                <a:solidFill>
                  <a:srgbClr val="707070"/>
                </a:solidFill>
                <a:latin typeface="Dax Pro" pitchFamily="34" charset="0"/>
                <a:ea typeface="Dax Pro" pitchFamily="34" charset="-122"/>
                <a:cs typeface="Dax Pro" pitchFamily="34" charset="-120"/>
              </a:rPr>
              <a:t>Internal    3</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52400" cy="6858000"/>
          </a:xfrm>
          <a:prstGeom prst="rect">
            <a:avLst/>
          </a:prstGeom>
          <a:gradFill rotWithShape="1">
            <a:gsLst>
              <a:gs pos="0">
                <a:srgbClr val="004068"/>
              </a:gs>
              <a:gs pos="100000">
                <a:srgbClr val="0079C1"/>
              </a:gs>
            </a:gsLst>
            <a:lin ang="5400000" scaled="0"/>
          </a:gradFill>
          <a:ln/>
        </p:spPr>
      </p:sp>
      <p:sp>
        <p:nvSpPr>
          <p:cNvPr id="3" name="Text 1"/>
          <p:cNvSpPr/>
          <p:nvPr>
            <p:ph type="title"/>
          </p:nvPr>
        </p:nvSpPr>
        <p:spPr>
          <a:xfrm>
            <a:off x="762000" y="457200"/>
            <a:ext cx="11145012" cy="463550"/>
          </a:xfrm>
          <a:prstGeom prst="rect">
            <a:avLst/>
          </a:prstGeom>
          <a:noFill/>
          <a:ln/>
        </p:spPr>
        <p:txBody>
          <a:bodyPr wrap="square" lIns="0" tIns="0" rIns="0" bIns="0" rtlCol="0" anchor="t">
            <a:normAutofit/>
          </a:bodyPr>
          <a:lstStyle/>
          <a:p>
            <a:pPr algn="l" indent="0" marL="0">
              <a:lnSpc>
                <a:spcPts val="3450"/>
              </a:lnSpc>
              <a:buNone/>
            </a:pPr>
            <a:r>
              <a:rPr lang="en-US" sz="3000" b="0" i="0" dirty="0">
                <a:solidFill>
                  <a:srgbClr val="1E1E1E"/>
                </a:solidFill>
                <a:latin typeface="Dax Pro" pitchFamily="34" charset="0"/>
                <a:ea typeface="Dax Pro" pitchFamily="34" charset="-122"/>
                <a:cs typeface="Dax Pro" pitchFamily="34" charset="-120"/>
              </a:rPr>
              <a:t>If it's wrong, Change zone lists the other four</a:t>
            </a:r>
            <a:endParaRPr lang="en-US" sz="3000" dirty="0"/>
          </a:p>
        </p:txBody>
      </p:sp>
      <p:sp>
        <p:nvSpPr>
          <p:cNvPr id="4" name="Shape 2"/>
          <p:cNvSpPr/>
          <p:nvPr/>
        </p:nvSpPr>
        <p:spPr>
          <a:xfrm>
            <a:off x="762000" y="1098550"/>
            <a:ext cx="10820400" cy="3733800"/>
          </a:xfrm>
          <a:prstGeom prst="rect">
            <a:avLst/>
          </a:prstGeom>
          <a:solidFill>
            <a:srgbClr val="E6F2FA"/>
          </a:solidFill>
          <a:ln/>
        </p:spPr>
      </p:sp>
      <p:pic>
        <p:nvPicPr>
          <p:cNvPr id="5" name="Image 0" descr="Change zone clicked on FCP - Tower 10: a list of the four other zones">    </p:cNvPr>
          <p:cNvPicPr>
            <a:picLocks noChangeAspect="1"/>
          </p:cNvPicPr>
          <p:nvPr/>
        </p:nvPicPr>
        <p:blipFill>
          <a:blip r:embed="rId1"/>
          <a:srcRect l="-26" r="-26" t="0" b="0"/>
          <a:stretch/>
        </p:blipFill>
        <p:spPr>
          <a:xfrm>
            <a:off x="1924050" y="1187450"/>
            <a:ext cx="8496300" cy="3556000"/>
          </a:xfrm>
          <a:prstGeom prst="rect">
            <a:avLst/>
          </a:prstGeom>
        </p:spPr>
      </p:pic>
      <p:sp>
        <p:nvSpPr>
          <p:cNvPr id="6" name="Text 3"/>
          <p:cNvSpPr/>
          <p:nvPr/>
        </p:nvSpPr>
        <p:spPr>
          <a:xfrm>
            <a:off x="762000" y="5035550"/>
            <a:ext cx="11145012" cy="265421"/>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4E4E4E"/>
                </a:solidFill>
                <a:latin typeface="Dax Pro" pitchFamily="34" charset="0"/>
                <a:ea typeface="Dax Pro" pitchFamily="34" charset="-122"/>
                <a:cs typeface="Dax Pro" pitchFamily="34" charset="-120"/>
              </a:rPr>
              <a:t>The current zone is left out of the list. Keep current zone is right there if they change their mind.</a:t>
            </a:r>
            <a:endParaRPr lang="en-US" sz="1400" dirty="0"/>
          </a:p>
        </p:txBody>
      </p:sp>
      <p:pic>
        <p:nvPicPr>
          <p:cNvPr id="7" name="Image 1" descr="BMO">    </p:cNvPr>
          <p:cNvPicPr>
            <a:picLocks noChangeAspect="1"/>
          </p:cNvPicPr>
          <p:nvPr/>
        </p:nvPicPr>
        <p:blipFill>
          <a:blip r:embed="rId2"/>
          <a:srcRect l="-658" r="-658" t="0" b="0"/>
          <a:stretch/>
        </p:blipFill>
        <p:spPr>
          <a:xfrm>
            <a:off x="762000" y="6464300"/>
            <a:ext cx="698500" cy="241300"/>
          </a:xfrm>
          <a:prstGeom prst="rect">
            <a:avLst/>
          </a:prstGeom>
        </p:spPr>
      </p:pic>
      <p:sp>
        <p:nvSpPr>
          <p:cNvPr id="8" name="Text 4"/>
          <p:cNvSpPr/>
          <p:nvPr/>
        </p:nvSpPr>
        <p:spPr>
          <a:xfrm>
            <a:off x="8966200" y="6489700"/>
            <a:ext cx="2616200" cy="203200"/>
          </a:xfrm>
          <a:prstGeom prst="rect">
            <a:avLst/>
          </a:prstGeom>
          <a:noFill/>
          <a:ln/>
        </p:spPr>
        <p:txBody>
          <a:bodyPr wrap="square" lIns="0" tIns="0" rIns="0" bIns="0" rtlCol="0" anchor="t">
            <a:normAutofit/>
          </a:bodyPr>
          <a:lstStyle/>
          <a:p>
            <a:pPr algn="r" indent="0" marL="0">
              <a:lnSpc>
                <a:spcPts val="1400"/>
              </a:lnSpc>
              <a:buNone/>
            </a:pPr>
            <a:r>
              <a:rPr lang="en-US" sz="1000" dirty="0">
                <a:solidFill>
                  <a:srgbClr val="707070"/>
                </a:solidFill>
                <a:latin typeface="Dax Pro" pitchFamily="34" charset="0"/>
                <a:ea typeface="Dax Pro" pitchFamily="34" charset="-122"/>
                <a:cs typeface="Dax Pro" pitchFamily="34" charset="-120"/>
              </a:rPr>
              <a:t>Internal    4</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52400" cy="6858000"/>
          </a:xfrm>
          <a:prstGeom prst="rect">
            <a:avLst/>
          </a:prstGeom>
          <a:gradFill rotWithShape="1">
            <a:gsLst>
              <a:gs pos="0">
                <a:srgbClr val="004068"/>
              </a:gs>
              <a:gs pos="100000">
                <a:srgbClr val="0079C1"/>
              </a:gs>
            </a:gsLst>
            <a:lin ang="5400000" scaled="0"/>
          </a:gradFill>
          <a:ln/>
        </p:spPr>
      </p:sp>
      <p:sp>
        <p:nvSpPr>
          <p:cNvPr id="3" name="Text 1"/>
          <p:cNvSpPr/>
          <p:nvPr>
            <p:ph type="title"/>
          </p:nvPr>
        </p:nvSpPr>
        <p:spPr>
          <a:xfrm>
            <a:off x="762000" y="457200"/>
            <a:ext cx="11145012" cy="463550"/>
          </a:xfrm>
          <a:prstGeom prst="rect">
            <a:avLst/>
          </a:prstGeom>
          <a:noFill/>
          <a:ln/>
        </p:spPr>
        <p:txBody>
          <a:bodyPr wrap="square" lIns="0" tIns="0" rIns="0" bIns="0" rtlCol="0" anchor="t">
            <a:normAutofit/>
          </a:bodyPr>
          <a:lstStyle/>
          <a:p>
            <a:pPr algn="l" indent="0" marL="0">
              <a:lnSpc>
                <a:spcPts val="3450"/>
              </a:lnSpc>
              <a:buNone/>
            </a:pPr>
            <a:r>
              <a:rPr lang="en-US" sz="3000" b="0" i="0" dirty="0">
                <a:solidFill>
                  <a:srgbClr val="1E1E1E"/>
                </a:solidFill>
                <a:latin typeface="Dax Pro" pitchFamily="34" charset="0"/>
                <a:ea typeface="Dax Pro" pitchFamily="34" charset="-122"/>
                <a:cs typeface="Dax Pro" pitchFamily="34" charset="-120"/>
              </a:rPr>
              <a:t>The new zone and its rules show before anything is saved</a:t>
            </a:r>
            <a:endParaRPr lang="en-US" sz="3000" dirty="0"/>
          </a:p>
        </p:txBody>
      </p:sp>
      <p:sp>
        <p:nvSpPr>
          <p:cNvPr id="4" name="Shape 2"/>
          <p:cNvSpPr/>
          <p:nvPr/>
        </p:nvSpPr>
        <p:spPr>
          <a:xfrm>
            <a:off x="762000" y="1149350"/>
            <a:ext cx="10820400" cy="3067050"/>
          </a:xfrm>
          <a:prstGeom prst="rect">
            <a:avLst/>
          </a:prstGeom>
          <a:solidFill>
            <a:srgbClr val="E6F2FA"/>
          </a:solidFill>
          <a:ln/>
        </p:spPr>
      </p:sp>
      <p:pic>
        <p:nvPicPr>
          <p:cNvPr id="5" name="Image 0" descr="FCP - Tower 10 changed to Standards, with numbered markers 1 to 4">    </p:cNvPr>
          <p:cNvPicPr>
            <a:picLocks noChangeAspect="1"/>
          </p:cNvPicPr>
          <p:nvPr/>
        </p:nvPicPr>
        <p:blipFill>
          <a:blip r:embed="rId1"/>
          <a:srcRect l="0" r="0" t="-27" b="-27"/>
          <a:stretch/>
        </p:blipFill>
        <p:spPr>
          <a:xfrm>
            <a:off x="850900" y="1238250"/>
            <a:ext cx="10642600" cy="2889250"/>
          </a:xfrm>
          <a:prstGeom prst="rect">
            <a:avLst/>
          </a:prstGeom>
        </p:spPr>
      </p:pic>
      <p:sp>
        <p:nvSpPr>
          <p:cNvPr id="6" name="Text 3"/>
          <p:cNvSpPr/>
          <p:nvPr/>
        </p:nvSpPr>
        <p:spPr>
          <a:xfrm>
            <a:off x="762000" y="4470400"/>
            <a:ext cx="330200" cy="330200"/>
          </a:xfrm>
          <a:prstGeom prst="roundRect">
            <a:avLst>
              <a:gd name="adj" fmla="val 50000"/>
            </a:avLst>
          </a:prstGeom>
          <a:solidFill>
            <a:srgbClr val="0079C1"/>
          </a:solidFill>
          <a:ln/>
        </p:spPr>
        <p:txBody>
          <a:bodyPr wrap="square" lIns="0" tIns="0" rIns="0" bIns="0" rtlCol="0" anchor="ctr">
            <a:normAutofit/>
          </a:bodyPr>
          <a:lstStyle/>
          <a:p>
            <a:pPr algn="ctr" indent="0" marL="0">
              <a:lnSpc>
                <a:spcPts val="1300"/>
              </a:lnSpc>
              <a:buNone/>
            </a:pPr>
            <a:r>
              <a:rPr lang="en-US" sz="1300" dirty="0">
                <a:solidFill>
                  <a:srgbClr val="FFFFFF"/>
                </a:solidFill>
                <a:latin typeface="Dax Pro" pitchFamily="34" charset="0"/>
                <a:ea typeface="Dax Pro" pitchFamily="34" charset="-122"/>
                <a:cs typeface="Dax Pro" pitchFamily="34" charset="-120"/>
              </a:rPr>
              <a:t>1</a:t>
            </a:r>
            <a:endParaRPr lang="en-US" sz="1300" dirty="0"/>
          </a:p>
        </p:txBody>
      </p:sp>
      <p:sp>
        <p:nvSpPr>
          <p:cNvPr id="7" name="Text 4"/>
          <p:cNvSpPr/>
          <p:nvPr/>
        </p:nvSpPr>
        <p:spPr>
          <a:xfrm>
            <a:off x="1193800" y="4470400"/>
            <a:ext cx="2145284" cy="694002"/>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1E1E1E"/>
                </a:solidFill>
                <a:latin typeface="Dax Pro" pitchFamily="34" charset="0"/>
                <a:ea typeface="Dax Pro" pitchFamily="34" charset="-122"/>
                <a:cs typeface="Dax Pro" pitchFamily="34" charset="-120"/>
              </a:rPr>
              <a:t>Old zone greyed out and struck through, new zone beside it</a:t>
            </a:r>
            <a:endParaRPr lang="en-US" sz="1300" dirty="0"/>
          </a:p>
        </p:txBody>
      </p:sp>
      <p:sp>
        <p:nvSpPr>
          <p:cNvPr id="8" name="Text 5"/>
          <p:cNvSpPr/>
          <p:nvPr/>
        </p:nvSpPr>
        <p:spPr>
          <a:xfrm>
            <a:off x="3530600" y="4470400"/>
            <a:ext cx="330200" cy="330200"/>
          </a:xfrm>
          <a:prstGeom prst="roundRect">
            <a:avLst>
              <a:gd name="adj" fmla="val 50000"/>
            </a:avLst>
          </a:prstGeom>
          <a:solidFill>
            <a:srgbClr val="0079C1"/>
          </a:solidFill>
          <a:ln/>
        </p:spPr>
        <p:txBody>
          <a:bodyPr wrap="square" lIns="0" tIns="0" rIns="0" bIns="0" rtlCol="0" anchor="ctr">
            <a:normAutofit/>
          </a:bodyPr>
          <a:lstStyle/>
          <a:p>
            <a:pPr algn="ctr" indent="0" marL="0">
              <a:lnSpc>
                <a:spcPts val="1300"/>
              </a:lnSpc>
              <a:buNone/>
            </a:pPr>
            <a:r>
              <a:rPr lang="en-US" sz="1300" dirty="0">
                <a:solidFill>
                  <a:srgbClr val="FFFFFF"/>
                </a:solidFill>
                <a:latin typeface="Dax Pro" pitchFamily="34" charset="0"/>
                <a:ea typeface="Dax Pro" pitchFamily="34" charset="-122"/>
                <a:cs typeface="Dax Pro" pitchFamily="34" charset="-120"/>
              </a:rPr>
              <a:t>2</a:t>
            </a:r>
            <a:endParaRPr lang="en-US" sz="1300" dirty="0"/>
          </a:p>
        </p:txBody>
      </p:sp>
      <p:sp>
        <p:nvSpPr>
          <p:cNvPr id="9" name="Text 6"/>
          <p:cNvSpPr/>
          <p:nvPr/>
        </p:nvSpPr>
        <p:spPr>
          <a:xfrm>
            <a:off x="3962400" y="4470400"/>
            <a:ext cx="2145284" cy="471135"/>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1E1E1E"/>
                </a:solidFill>
                <a:latin typeface="Dax Pro" pitchFamily="34" charset="0"/>
                <a:ea typeface="Dax Pro" pitchFamily="34" charset="-122"/>
                <a:cs typeface="Dax Pro" pitchFamily="34" charset="-120"/>
              </a:rPr>
              <a:t>The new zone's description replaces the old one</a:t>
            </a:r>
            <a:endParaRPr lang="en-US" sz="1300" dirty="0"/>
          </a:p>
        </p:txBody>
      </p:sp>
      <p:sp>
        <p:nvSpPr>
          <p:cNvPr id="10" name="Text 7"/>
          <p:cNvSpPr/>
          <p:nvPr/>
        </p:nvSpPr>
        <p:spPr>
          <a:xfrm>
            <a:off x="6299200" y="4470400"/>
            <a:ext cx="330200" cy="330200"/>
          </a:xfrm>
          <a:prstGeom prst="roundRect">
            <a:avLst>
              <a:gd name="adj" fmla="val 50000"/>
            </a:avLst>
          </a:prstGeom>
          <a:solidFill>
            <a:srgbClr val="0079C1"/>
          </a:solidFill>
          <a:ln/>
        </p:spPr>
        <p:txBody>
          <a:bodyPr wrap="square" lIns="0" tIns="0" rIns="0" bIns="0" rtlCol="0" anchor="ctr">
            <a:normAutofit/>
          </a:bodyPr>
          <a:lstStyle/>
          <a:p>
            <a:pPr algn="ctr" indent="0" marL="0">
              <a:lnSpc>
                <a:spcPts val="1300"/>
              </a:lnSpc>
              <a:buNone/>
            </a:pPr>
            <a:r>
              <a:rPr lang="en-US" sz="1300" dirty="0">
                <a:solidFill>
                  <a:srgbClr val="FFFFFF"/>
                </a:solidFill>
                <a:latin typeface="Dax Pro" pitchFamily="34" charset="0"/>
                <a:ea typeface="Dax Pro" pitchFamily="34" charset="-122"/>
                <a:cs typeface="Dax Pro" pitchFamily="34" charset="-120"/>
              </a:rPr>
              <a:t>3</a:t>
            </a:r>
            <a:endParaRPr lang="en-US" sz="1300" dirty="0"/>
          </a:p>
        </p:txBody>
      </p:sp>
      <p:sp>
        <p:nvSpPr>
          <p:cNvPr id="11" name="Text 8"/>
          <p:cNvSpPr/>
          <p:nvPr/>
        </p:nvSpPr>
        <p:spPr>
          <a:xfrm>
            <a:off x="6731000" y="4470400"/>
            <a:ext cx="2145284" cy="471135"/>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1E1E1E"/>
                </a:solidFill>
                <a:latin typeface="Dax Pro" pitchFamily="34" charset="0"/>
                <a:ea typeface="Dax Pro" pitchFamily="34" charset="-122"/>
                <a:cs typeface="Dax Pro" pitchFamily="34" charset="-120"/>
              </a:rPr>
              <a:t>Marked as changed, in the new zone's colour</a:t>
            </a:r>
            <a:endParaRPr lang="en-US" sz="1300" dirty="0"/>
          </a:p>
        </p:txBody>
      </p:sp>
      <p:sp>
        <p:nvSpPr>
          <p:cNvPr id="12" name="Text 9"/>
          <p:cNvSpPr/>
          <p:nvPr/>
        </p:nvSpPr>
        <p:spPr>
          <a:xfrm>
            <a:off x="9067800" y="4470400"/>
            <a:ext cx="330200" cy="330200"/>
          </a:xfrm>
          <a:prstGeom prst="roundRect">
            <a:avLst>
              <a:gd name="adj" fmla="val 50000"/>
            </a:avLst>
          </a:prstGeom>
          <a:solidFill>
            <a:srgbClr val="0079C1"/>
          </a:solidFill>
          <a:ln/>
        </p:spPr>
        <p:txBody>
          <a:bodyPr wrap="square" lIns="0" tIns="0" rIns="0" bIns="0" rtlCol="0" anchor="ctr">
            <a:normAutofit/>
          </a:bodyPr>
          <a:lstStyle/>
          <a:p>
            <a:pPr algn="ctr" indent="0" marL="0">
              <a:lnSpc>
                <a:spcPts val="1300"/>
              </a:lnSpc>
              <a:buNone/>
            </a:pPr>
            <a:r>
              <a:rPr lang="en-US" sz="1300" dirty="0">
                <a:solidFill>
                  <a:srgbClr val="FFFFFF"/>
                </a:solidFill>
                <a:latin typeface="Dax Pro" pitchFamily="34" charset="0"/>
                <a:ea typeface="Dax Pro" pitchFamily="34" charset="-122"/>
                <a:cs typeface="Dax Pro" pitchFamily="34" charset="-120"/>
              </a:rPr>
              <a:t>4</a:t>
            </a:r>
            <a:endParaRPr lang="en-US" sz="1300" dirty="0"/>
          </a:p>
        </p:txBody>
      </p:sp>
      <p:sp>
        <p:nvSpPr>
          <p:cNvPr id="13" name="Text 10"/>
          <p:cNvSpPr/>
          <p:nvPr/>
        </p:nvSpPr>
        <p:spPr>
          <a:xfrm>
            <a:off x="9499600" y="4470400"/>
            <a:ext cx="2145284" cy="471135"/>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1E1E1E"/>
                </a:solidFill>
                <a:latin typeface="Dax Pro" pitchFamily="34" charset="0"/>
                <a:ea typeface="Dax Pro" pitchFamily="34" charset="-122"/>
                <a:cs typeface="Dax Pro" pitchFamily="34" charset="-120"/>
              </a:rPr>
              <a:t>Keep current zone undoes the change</a:t>
            </a:r>
            <a:endParaRPr lang="en-US" sz="1300" dirty="0"/>
          </a:p>
        </p:txBody>
      </p:sp>
      <p:pic>
        <p:nvPicPr>
          <p:cNvPr id="14" name="Image 1" descr="BMO">    </p:cNvPr>
          <p:cNvPicPr>
            <a:picLocks noChangeAspect="1"/>
          </p:cNvPicPr>
          <p:nvPr/>
        </p:nvPicPr>
        <p:blipFill>
          <a:blip r:embed="rId2"/>
          <a:srcRect l="-658" r="-658" t="0" b="0"/>
          <a:stretch/>
        </p:blipFill>
        <p:spPr>
          <a:xfrm>
            <a:off x="762000" y="6464300"/>
            <a:ext cx="698500" cy="241300"/>
          </a:xfrm>
          <a:prstGeom prst="rect">
            <a:avLst/>
          </a:prstGeom>
        </p:spPr>
      </p:pic>
      <p:sp>
        <p:nvSpPr>
          <p:cNvPr id="15" name="Text 11"/>
          <p:cNvSpPr/>
          <p:nvPr/>
        </p:nvSpPr>
        <p:spPr>
          <a:xfrm>
            <a:off x="8966200" y="6489700"/>
            <a:ext cx="2616200" cy="203200"/>
          </a:xfrm>
          <a:prstGeom prst="rect">
            <a:avLst/>
          </a:prstGeom>
          <a:noFill/>
          <a:ln/>
        </p:spPr>
        <p:txBody>
          <a:bodyPr wrap="square" lIns="0" tIns="0" rIns="0" bIns="0" rtlCol="0" anchor="t">
            <a:normAutofit/>
          </a:bodyPr>
          <a:lstStyle/>
          <a:p>
            <a:pPr algn="r" indent="0" marL="0">
              <a:lnSpc>
                <a:spcPts val="1400"/>
              </a:lnSpc>
              <a:buNone/>
            </a:pPr>
            <a:r>
              <a:rPr lang="en-US" sz="1000" dirty="0">
                <a:solidFill>
                  <a:srgbClr val="707070"/>
                </a:solidFill>
                <a:latin typeface="Dax Pro" pitchFamily="34" charset="0"/>
                <a:ea typeface="Dax Pro" pitchFamily="34" charset="-122"/>
                <a:cs typeface="Dax Pro" pitchFamily="34" charset="-120"/>
              </a:rPr>
              <a:t>Internal    5</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52400" cy="6858000"/>
          </a:xfrm>
          <a:prstGeom prst="rect">
            <a:avLst/>
          </a:prstGeom>
          <a:gradFill rotWithShape="1">
            <a:gsLst>
              <a:gs pos="0">
                <a:srgbClr val="004068"/>
              </a:gs>
              <a:gs pos="100000">
                <a:srgbClr val="0079C1"/>
              </a:gs>
            </a:gsLst>
            <a:lin ang="5400000" scaled="0"/>
          </a:gradFill>
          <a:ln/>
        </p:spPr>
      </p:sp>
      <p:sp>
        <p:nvSpPr>
          <p:cNvPr id="3" name="Text 1"/>
          <p:cNvSpPr/>
          <p:nvPr>
            <p:ph type="title"/>
          </p:nvPr>
        </p:nvSpPr>
        <p:spPr>
          <a:xfrm>
            <a:off x="762000" y="457200"/>
            <a:ext cx="11145012" cy="463550"/>
          </a:xfrm>
          <a:prstGeom prst="rect">
            <a:avLst/>
          </a:prstGeom>
          <a:noFill/>
          <a:ln/>
        </p:spPr>
        <p:txBody>
          <a:bodyPr wrap="square" lIns="0" tIns="0" rIns="0" bIns="0" rtlCol="0" anchor="t">
            <a:normAutofit/>
          </a:bodyPr>
          <a:lstStyle/>
          <a:p>
            <a:pPr algn="l" indent="0" marL="0">
              <a:lnSpc>
                <a:spcPts val="3450"/>
              </a:lnSpc>
              <a:buNone/>
            </a:pPr>
            <a:r>
              <a:rPr lang="en-US" sz="3000" b="0" i="0" dirty="0">
                <a:solidFill>
                  <a:srgbClr val="1E1E1E"/>
                </a:solidFill>
                <a:latin typeface="Dax Pro" pitchFamily="34" charset="0"/>
                <a:ea typeface="Dax Pro" pitchFamily="34" charset="-122"/>
                <a:cs typeface="Dax Pro" pitchFamily="34" charset="-120"/>
              </a:rPr>
              <a:t>Keep current zone puts the area back as it was</a:t>
            </a:r>
            <a:endParaRPr lang="en-US" sz="3000" dirty="0"/>
          </a:p>
        </p:txBody>
      </p:sp>
      <p:sp>
        <p:nvSpPr>
          <p:cNvPr id="4" name="Text 2"/>
          <p:cNvSpPr/>
          <p:nvPr/>
        </p:nvSpPr>
        <p:spPr>
          <a:xfrm>
            <a:off x="762000" y="1978025"/>
            <a:ext cx="2747010" cy="311150"/>
          </a:xfrm>
          <a:prstGeom prst="rect">
            <a:avLst/>
          </a:prstGeom>
          <a:noFill/>
          <a:ln/>
        </p:spPr>
        <p:txBody>
          <a:bodyPr wrap="square" lIns="0" tIns="0" rIns="0" bIns="0" rtlCol="0" anchor="t">
            <a:normAutofit/>
          </a:bodyPr>
          <a:lstStyle/>
          <a:p>
            <a:pPr algn="l" indent="0" marL="0">
              <a:lnSpc>
                <a:spcPts val="2250"/>
              </a:lnSpc>
              <a:buNone/>
            </a:pPr>
            <a:r>
              <a:rPr lang="en-US" sz="1800" dirty="0">
                <a:solidFill>
                  <a:srgbClr val="0079C1"/>
                </a:solidFill>
                <a:latin typeface="Dax Pro" pitchFamily="34" charset="0"/>
                <a:ea typeface="Dax Pro" pitchFamily="34" charset="-122"/>
                <a:cs typeface="Dax Pro" pitchFamily="34" charset="-120"/>
              </a:rPr>
              <a:t>Changed to Standards</a:t>
            </a:r>
            <a:endParaRPr lang="en-US" sz="1800" dirty="0"/>
          </a:p>
        </p:txBody>
      </p:sp>
      <p:sp>
        <p:nvSpPr>
          <p:cNvPr id="5" name="Shape 3"/>
          <p:cNvSpPr/>
          <p:nvPr/>
        </p:nvSpPr>
        <p:spPr>
          <a:xfrm>
            <a:off x="3733800" y="1098550"/>
            <a:ext cx="7848600" cy="2044700"/>
          </a:xfrm>
          <a:prstGeom prst="rect">
            <a:avLst/>
          </a:prstGeom>
          <a:solidFill>
            <a:srgbClr val="E6F2FA"/>
          </a:solidFill>
          <a:ln/>
        </p:spPr>
      </p:sp>
      <p:pic>
        <p:nvPicPr>
          <p:cNvPr id="6" name="Image 0" descr="Tower 10 changed to Standards">    </p:cNvPr>
          <p:cNvPicPr>
            <a:picLocks noChangeAspect="1"/>
          </p:cNvPicPr>
          <p:nvPr/>
        </p:nvPicPr>
        <p:blipFill>
          <a:blip r:embed="rId1"/>
          <a:srcRect l="-78" r="-78" t="0" b="0"/>
          <a:stretch/>
        </p:blipFill>
        <p:spPr>
          <a:xfrm>
            <a:off x="4165600" y="1174750"/>
            <a:ext cx="6985000" cy="1892300"/>
          </a:xfrm>
          <a:prstGeom prst="rect">
            <a:avLst/>
          </a:prstGeom>
        </p:spPr>
      </p:pic>
      <p:sp>
        <p:nvSpPr>
          <p:cNvPr id="7" name="Text 4"/>
          <p:cNvSpPr/>
          <p:nvPr/>
        </p:nvSpPr>
        <p:spPr>
          <a:xfrm>
            <a:off x="762000" y="4017035"/>
            <a:ext cx="2747010" cy="311150"/>
          </a:xfrm>
          <a:prstGeom prst="rect">
            <a:avLst/>
          </a:prstGeom>
          <a:noFill/>
          <a:ln/>
        </p:spPr>
        <p:txBody>
          <a:bodyPr wrap="square" lIns="0" tIns="0" rIns="0" bIns="0" rtlCol="0" anchor="t">
            <a:normAutofit/>
          </a:bodyPr>
          <a:lstStyle/>
          <a:p>
            <a:pPr algn="l" indent="0" marL="0">
              <a:lnSpc>
                <a:spcPts val="2250"/>
              </a:lnSpc>
              <a:buNone/>
            </a:pPr>
            <a:r>
              <a:rPr lang="en-US" sz="1800" dirty="0">
                <a:solidFill>
                  <a:srgbClr val="0079C1"/>
                </a:solidFill>
                <a:latin typeface="Dax Pro" pitchFamily="34" charset="0"/>
                <a:ea typeface="Dax Pro" pitchFamily="34" charset="-122"/>
                <a:cs typeface="Dax Pro" pitchFamily="34" charset="-120"/>
              </a:rPr>
              <a:t>After Keep current zone</a:t>
            </a:r>
            <a:endParaRPr lang="en-US" sz="1800" dirty="0"/>
          </a:p>
        </p:txBody>
      </p:sp>
      <p:sp>
        <p:nvSpPr>
          <p:cNvPr id="8" name="Text 5"/>
          <p:cNvSpPr/>
          <p:nvPr/>
        </p:nvSpPr>
        <p:spPr>
          <a:xfrm>
            <a:off x="762000" y="4378985"/>
            <a:ext cx="2747010" cy="487627"/>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E4E4E"/>
                </a:solidFill>
                <a:latin typeface="Dax Pro" pitchFamily="34" charset="0"/>
                <a:ea typeface="Dax Pro" pitchFamily="34" charset="-122"/>
                <a:cs typeface="Dax Pro" pitchFamily="34" charset="-120"/>
              </a:rPr>
              <a:t>Back to the zone on file, still waiting to be confirmed.</a:t>
            </a:r>
            <a:endParaRPr lang="en-US" sz="1300" dirty="0"/>
          </a:p>
        </p:txBody>
      </p:sp>
      <p:sp>
        <p:nvSpPr>
          <p:cNvPr id="9" name="Shape 6"/>
          <p:cNvSpPr/>
          <p:nvPr/>
        </p:nvSpPr>
        <p:spPr>
          <a:xfrm>
            <a:off x="3733800" y="3346450"/>
            <a:ext cx="7848600" cy="2165350"/>
          </a:xfrm>
          <a:prstGeom prst="rect">
            <a:avLst/>
          </a:prstGeom>
          <a:solidFill>
            <a:srgbClr val="E6F2FA"/>
          </a:solidFill>
          <a:ln/>
        </p:spPr>
      </p:sp>
      <p:pic>
        <p:nvPicPr>
          <p:cNvPr id="10" name="Image 1" descr="Tower 10 back to Public Plus with confirm and Change zone">    </p:cNvPr>
          <p:cNvPicPr>
            <a:picLocks noChangeAspect="1"/>
          </p:cNvPicPr>
          <p:nvPr/>
        </p:nvPicPr>
        <p:blipFill>
          <a:blip r:embed="rId2"/>
          <a:srcRect l="-62" r="-62" t="0" b="0"/>
          <a:stretch/>
        </p:blipFill>
        <p:spPr>
          <a:xfrm>
            <a:off x="4165600" y="3422650"/>
            <a:ext cx="6985000" cy="2012950"/>
          </a:xfrm>
          <a:prstGeom prst="rect">
            <a:avLst/>
          </a:prstGeom>
        </p:spPr>
      </p:pic>
      <p:pic>
        <p:nvPicPr>
          <p:cNvPr id="11" name="Image 2" descr="BMO">    </p:cNvPr>
          <p:cNvPicPr>
            <a:picLocks noChangeAspect="1"/>
          </p:cNvPicPr>
          <p:nvPr/>
        </p:nvPicPr>
        <p:blipFill>
          <a:blip r:embed="rId3"/>
          <a:srcRect l="-658" r="-658" t="0" b="0"/>
          <a:stretch/>
        </p:blipFill>
        <p:spPr>
          <a:xfrm>
            <a:off x="762000" y="6464300"/>
            <a:ext cx="698500" cy="241300"/>
          </a:xfrm>
          <a:prstGeom prst="rect">
            <a:avLst/>
          </a:prstGeom>
        </p:spPr>
      </p:pic>
      <p:sp>
        <p:nvSpPr>
          <p:cNvPr id="12" name="Text 7"/>
          <p:cNvSpPr/>
          <p:nvPr/>
        </p:nvSpPr>
        <p:spPr>
          <a:xfrm>
            <a:off x="8966200" y="6489700"/>
            <a:ext cx="2616200" cy="203200"/>
          </a:xfrm>
          <a:prstGeom prst="rect">
            <a:avLst/>
          </a:prstGeom>
          <a:noFill/>
          <a:ln/>
        </p:spPr>
        <p:txBody>
          <a:bodyPr wrap="square" lIns="0" tIns="0" rIns="0" bIns="0" rtlCol="0" anchor="t">
            <a:normAutofit/>
          </a:bodyPr>
          <a:lstStyle/>
          <a:p>
            <a:pPr algn="r" indent="0" marL="0">
              <a:lnSpc>
                <a:spcPts val="1400"/>
              </a:lnSpc>
              <a:buNone/>
            </a:pPr>
            <a:r>
              <a:rPr lang="en-US" sz="1000" dirty="0">
                <a:solidFill>
                  <a:srgbClr val="707070"/>
                </a:solidFill>
                <a:latin typeface="Dax Pro" pitchFamily="34" charset="0"/>
                <a:ea typeface="Dax Pro" pitchFamily="34" charset="-122"/>
                <a:cs typeface="Dax Pro" pitchFamily="34" charset="-120"/>
              </a:rPr>
              <a:t>Internal    6</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52400" cy="6858000"/>
          </a:xfrm>
          <a:prstGeom prst="rect">
            <a:avLst/>
          </a:prstGeom>
          <a:gradFill rotWithShape="1">
            <a:gsLst>
              <a:gs pos="0">
                <a:srgbClr val="004068"/>
              </a:gs>
              <a:gs pos="100000">
                <a:srgbClr val="0079C1"/>
              </a:gs>
            </a:gsLst>
            <a:lin ang="5400000" scaled="0"/>
          </a:gradFill>
          <a:ln/>
        </p:spPr>
      </p:sp>
      <p:sp>
        <p:nvSpPr>
          <p:cNvPr id="3" name="Text 1"/>
          <p:cNvSpPr/>
          <p:nvPr>
            <p:ph type="title"/>
          </p:nvPr>
        </p:nvSpPr>
        <p:spPr>
          <a:xfrm>
            <a:off x="762000" y="457200"/>
            <a:ext cx="11145012" cy="463550"/>
          </a:xfrm>
          <a:prstGeom prst="rect">
            <a:avLst/>
          </a:prstGeom>
          <a:noFill/>
          <a:ln/>
        </p:spPr>
        <p:txBody>
          <a:bodyPr wrap="square" lIns="0" tIns="0" rIns="0" bIns="0" rtlCol="0" anchor="t">
            <a:normAutofit/>
          </a:bodyPr>
          <a:lstStyle/>
          <a:p>
            <a:pPr algn="l" indent="0" marL="0">
              <a:lnSpc>
                <a:spcPts val="3450"/>
              </a:lnSpc>
              <a:buNone/>
            </a:pPr>
            <a:r>
              <a:rPr lang="en-US" sz="3000" b="0" i="0" dirty="0">
                <a:solidFill>
                  <a:srgbClr val="1E1E1E"/>
                </a:solidFill>
                <a:latin typeface="Dax Pro" pitchFamily="34" charset="0"/>
                <a:ea typeface="Dax Pro" pitchFamily="34" charset="-122"/>
                <a:cs typeface="Dax Pro" pitchFamily="34" charset="-120"/>
              </a:rPr>
              <a:t>An area with no zone on file goes straight to the list</a:t>
            </a:r>
            <a:endParaRPr lang="en-US" sz="3000" dirty="0"/>
          </a:p>
        </p:txBody>
      </p:sp>
      <p:sp>
        <p:nvSpPr>
          <p:cNvPr id="4" name="Text 2"/>
          <p:cNvSpPr/>
          <p:nvPr/>
        </p:nvSpPr>
        <p:spPr>
          <a:xfrm>
            <a:off x="762000" y="1910073"/>
            <a:ext cx="3139440" cy="311150"/>
          </a:xfrm>
          <a:prstGeom prst="rect">
            <a:avLst/>
          </a:prstGeom>
          <a:noFill/>
          <a:ln/>
        </p:spPr>
        <p:txBody>
          <a:bodyPr wrap="square" lIns="0" tIns="0" rIns="0" bIns="0" rtlCol="0" anchor="t">
            <a:normAutofit/>
          </a:bodyPr>
          <a:lstStyle/>
          <a:p>
            <a:pPr algn="l" indent="0" marL="0">
              <a:lnSpc>
                <a:spcPts val="2250"/>
              </a:lnSpc>
              <a:buNone/>
            </a:pPr>
            <a:r>
              <a:rPr lang="en-US" sz="1800" dirty="0">
                <a:solidFill>
                  <a:srgbClr val="0079C1"/>
                </a:solidFill>
                <a:latin typeface="Dax Pro" pitchFamily="34" charset="0"/>
                <a:ea typeface="Dax Pro" pitchFamily="34" charset="-122"/>
                <a:cs typeface="Dax Pro" pitchFamily="34" charset="-120"/>
              </a:rPr>
              <a:t>Nothing to confirm</a:t>
            </a:r>
            <a:endParaRPr lang="en-US" sz="1800" dirty="0"/>
          </a:p>
        </p:txBody>
      </p:sp>
      <p:sp>
        <p:nvSpPr>
          <p:cNvPr id="5" name="Text 3"/>
          <p:cNvSpPr/>
          <p:nvPr/>
        </p:nvSpPr>
        <p:spPr>
          <a:xfrm>
            <a:off x="762000" y="2272023"/>
            <a:ext cx="3139440" cy="256514"/>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E4E4E"/>
                </a:solidFill>
                <a:latin typeface="Dax Pro" pitchFamily="34" charset="0"/>
                <a:ea typeface="Dax Pro" pitchFamily="34" charset="-122"/>
                <a:cs typeface="Dax Pro" pitchFamily="34" charset="-120"/>
              </a:rPr>
              <a:t>All five zones are offered.</a:t>
            </a:r>
            <a:endParaRPr lang="en-US" sz="1300" dirty="0"/>
          </a:p>
        </p:txBody>
      </p:sp>
      <p:sp>
        <p:nvSpPr>
          <p:cNvPr id="6" name="Shape 4"/>
          <p:cNvSpPr/>
          <p:nvPr/>
        </p:nvSpPr>
        <p:spPr>
          <a:xfrm>
            <a:off x="4114800" y="1098550"/>
            <a:ext cx="7467600" cy="2216150"/>
          </a:xfrm>
          <a:prstGeom prst="rect">
            <a:avLst/>
          </a:prstGeom>
          <a:solidFill>
            <a:srgbClr val="E6F2FA"/>
          </a:solidFill>
          <a:ln/>
        </p:spPr>
      </p:sp>
      <p:pic>
        <p:nvPicPr>
          <p:cNvPr id="7" name="Image 0" descr="FCP - Tower 37 with no current zone, the list of all five zones open">    </p:cNvPr>
          <p:cNvPicPr>
            <a:picLocks noChangeAspect="1"/>
          </p:cNvPicPr>
          <p:nvPr/>
        </p:nvPicPr>
        <p:blipFill>
          <a:blip r:embed="rId1"/>
          <a:srcRect l="0" r="0" t="0" b="0"/>
          <a:stretch/>
        </p:blipFill>
        <p:spPr>
          <a:xfrm>
            <a:off x="4673600" y="1174750"/>
            <a:ext cx="6350000" cy="2063750"/>
          </a:xfrm>
          <a:prstGeom prst="rect">
            <a:avLst/>
          </a:prstGeom>
        </p:spPr>
      </p:pic>
      <p:sp>
        <p:nvSpPr>
          <p:cNvPr id="8" name="Text 5"/>
          <p:cNvSpPr/>
          <p:nvPr/>
        </p:nvSpPr>
        <p:spPr>
          <a:xfrm>
            <a:off x="762000" y="4105935"/>
            <a:ext cx="3139440" cy="311150"/>
          </a:xfrm>
          <a:prstGeom prst="rect">
            <a:avLst/>
          </a:prstGeom>
          <a:noFill/>
          <a:ln/>
        </p:spPr>
        <p:txBody>
          <a:bodyPr wrap="square" lIns="0" tIns="0" rIns="0" bIns="0" rtlCol="0" anchor="t">
            <a:normAutofit/>
          </a:bodyPr>
          <a:lstStyle/>
          <a:p>
            <a:pPr algn="l" indent="0" marL="0">
              <a:lnSpc>
                <a:spcPts val="2250"/>
              </a:lnSpc>
              <a:buNone/>
            </a:pPr>
            <a:r>
              <a:rPr lang="en-US" sz="1800" dirty="0">
                <a:solidFill>
                  <a:srgbClr val="0079C1"/>
                </a:solidFill>
                <a:latin typeface="Dax Pro" pitchFamily="34" charset="0"/>
                <a:ea typeface="Dax Pro" pitchFamily="34" charset="-122"/>
                <a:cs typeface="Dax Pro" pitchFamily="34" charset="-120"/>
              </a:rPr>
              <a:t>After choosing</a:t>
            </a:r>
            <a:endParaRPr lang="en-US" sz="1800" dirty="0"/>
          </a:p>
        </p:txBody>
      </p:sp>
      <p:sp>
        <p:nvSpPr>
          <p:cNvPr id="9" name="Text 6"/>
          <p:cNvSpPr/>
          <p:nvPr/>
        </p:nvSpPr>
        <p:spPr>
          <a:xfrm>
            <a:off x="762000" y="4467885"/>
            <a:ext cx="3139440" cy="487627"/>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E4E4E"/>
                </a:solidFill>
                <a:latin typeface="Dax Pro" pitchFamily="34" charset="0"/>
                <a:ea typeface="Dax Pro" pitchFamily="34" charset="-122"/>
                <a:cs typeface="Dax Pro" pitchFamily="34" charset="-120"/>
              </a:rPr>
              <a:t>The zone's meaning appears, and the card takes its colour.</a:t>
            </a:r>
            <a:endParaRPr lang="en-US" sz="1300" dirty="0"/>
          </a:p>
        </p:txBody>
      </p:sp>
      <p:sp>
        <p:nvSpPr>
          <p:cNvPr id="10" name="Shape 7"/>
          <p:cNvSpPr/>
          <p:nvPr/>
        </p:nvSpPr>
        <p:spPr>
          <a:xfrm>
            <a:off x="4114800" y="3517900"/>
            <a:ext cx="7467600" cy="2000250"/>
          </a:xfrm>
          <a:prstGeom prst="rect">
            <a:avLst/>
          </a:prstGeom>
          <a:solidFill>
            <a:srgbClr val="E6F2FA"/>
          </a:solidFill>
          <a:ln/>
        </p:spPr>
      </p:sp>
      <p:pic>
        <p:nvPicPr>
          <p:cNvPr id="11" name="Image 1" descr="FCP - Tower 37 after choosing Public Plus">    </p:cNvPr>
          <p:cNvPicPr>
            <a:picLocks noChangeAspect="1"/>
          </p:cNvPicPr>
          <p:nvPr/>
        </p:nvPicPr>
        <p:blipFill>
          <a:blip r:embed="rId2"/>
          <a:srcRect l="0" r="0" t="-65" b="-65"/>
          <a:stretch/>
        </p:blipFill>
        <p:spPr>
          <a:xfrm>
            <a:off x="4673600" y="3594100"/>
            <a:ext cx="6350000" cy="1847850"/>
          </a:xfrm>
          <a:prstGeom prst="rect">
            <a:avLst/>
          </a:prstGeom>
        </p:spPr>
      </p:pic>
      <p:pic>
        <p:nvPicPr>
          <p:cNvPr id="12" name="Image 2" descr="BMO">    </p:cNvPr>
          <p:cNvPicPr>
            <a:picLocks noChangeAspect="1"/>
          </p:cNvPicPr>
          <p:nvPr/>
        </p:nvPicPr>
        <p:blipFill>
          <a:blip r:embed="rId3"/>
          <a:srcRect l="-658" r="-658" t="0" b="0"/>
          <a:stretch/>
        </p:blipFill>
        <p:spPr>
          <a:xfrm>
            <a:off x="762000" y="6464300"/>
            <a:ext cx="698500" cy="241300"/>
          </a:xfrm>
          <a:prstGeom prst="rect">
            <a:avLst/>
          </a:prstGeom>
        </p:spPr>
      </p:pic>
      <p:sp>
        <p:nvSpPr>
          <p:cNvPr id="13" name="Text 8"/>
          <p:cNvSpPr/>
          <p:nvPr/>
        </p:nvSpPr>
        <p:spPr>
          <a:xfrm>
            <a:off x="8966200" y="6489700"/>
            <a:ext cx="2616200" cy="203200"/>
          </a:xfrm>
          <a:prstGeom prst="rect">
            <a:avLst/>
          </a:prstGeom>
          <a:noFill/>
          <a:ln/>
        </p:spPr>
        <p:txBody>
          <a:bodyPr wrap="square" lIns="0" tIns="0" rIns="0" bIns="0" rtlCol="0" anchor="t">
            <a:normAutofit/>
          </a:bodyPr>
          <a:lstStyle/>
          <a:p>
            <a:pPr algn="r" indent="0" marL="0">
              <a:lnSpc>
                <a:spcPts val="1400"/>
              </a:lnSpc>
              <a:buNone/>
            </a:pPr>
            <a:r>
              <a:rPr lang="en-US" sz="1000" dirty="0">
                <a:solidFill>
                  <a:srgbClr val="707070"/>
                </a:solidFill>
                <a:latin typeface="Dax Pro" pitchFamily="34" charset="0"/>
                <a:ea typeface="Dax Pro" pitchFamily="34" charset="-122"/>
                <a:cs typeface="Dax Pro" pitchFamily="34" charset="-120"/>
              </a:rPr>
              <a:t>Internal    7</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52400" cy="6858000"/>
          </a:xfrm>
          <a:prstGeom prst="rect">
            <a:avLst/>
          </a:prstGeom>
          <a:gradFill rotWithShape="1">
            <a:gsLst>
              <a:gs pos="0">
                <a:srgbClr val="004068"/>
              </a:gs>
              <a:gs pos="100000">
                <a:srgbClr val="0079C1"/>
              </a:gs>
            </a:gsLst>
            <a:lin ang="5400000" scaled="0"/>
          </a:gradFill>
          <a:ln/>
        </p:spPr>
      </p:sp>
      <p:sp>
        <p:nvSpPr>
          <p:cNvPr id="3" name="Shape 1"/>
          <p:cNvSpPr/>
          <p:nvPr/>
        </p:nvSpPr>
        <p:spPr>
          <a:xfrm>
            <a:off x="762000" y="457200"/>
            <a:ext cx="5816600" cy="5638800"/>
          </a:xfrm>
          <a:prstGeom prst="rect">
            <a:avLst/>
          </a:prstGeom>
          <a:solidFill>
            <a:srgbClr val="E6F2FA"/>
          </a:solidFill>
          <a:ln/>
        </p:spPr>
      </p:sp>
      <p:pic>
        <p:nvPicPr>
          <p:cNvPr id="4" name="Image 0" descr="Submitting with nothing answered: every card outlined in red with a message">    </p:cNvPr>
          <p:cNvPicPr>
            <a:picLocks noChangeAspect="1"/>
          </p:cNvPicPr>
          <p:nvPr/>
        </p:nvPicPr>
        <p:blipFill>
          <a:blip r:embed="rId1"/>
          <a:srcRect l="0" r="0" t="-529" b="-529"/>
          <a:stretch/>
        </p:blipFill>
        <p:spPr>
          <a:xfrm>
            <a:off x="850900" y="546100"/>
            <a:ext cx="5638800" cy="5461000"/>
          </a:xfrm>
          <a:prstGeom prst="rect">
            <a:avLst/>
          </a:prstGeom>
        </p:spPr>
      </p:pic>
      <p:sp>
        <p:nvSpPr>
          <p:cNvPr id="5" name="Text 2"/>
          <p:cNvSpPr/>
          <p:nvPr>
            <p:ph type="title"/>
          </p:nvPr>
        </p:nvSpPr>
        <p:spPr>
          <a:xfrm>
            <a:off x="7086600" y="609600"/>
            <a:ext cx="4630674" cy="901700"/>
          </a:xfrm>
          <a:prstGeom prst="rect">
            <a:avLst/>
          </a:prstGeom>
          <a:noFill/>
          <a:ln/>
        </p:spPr>
        <p:txBody>
          <a:bodyPr wrap="square" lIns="0" tIns="0" rIns="0" bIns="0" rtlCol="0" anchor="t">
            <a:normAutofit/>
          </a:bodyPr>
          <a:lstStyle/>
          <a:p>
            <a:pPr algn="l" indent="0" marL="0">
              <a:lnSpc>
                <a:spcPts val="3450"/>
              </a:lnSpc>
              <a:buNone/>
            </a:pPr>
            <a:r>
              <a:rPr lang="en-US" sz="3000" b="0" i="0" dirty="0">
                <a:solidFill>
                  <a:srgbClr val="1E1E1E"/>
                </a:solidFill>
                <a:latin typeface="Dax Pro" pitchFamily="34" charset="0"/>
                <a:ea typeface="Dax Pro" pitchFamily="34" charset="-122"/>
                <a:cs typeface="Dax Pro" pitchFamily="34" charset="-120"/>
              </a:rPr>
              <a:t>Anything missed is flagged before submitting</a:t>
            </a:r>
            <a:endParaRPr lang="en-US" sz="3000" dirty="0"/>
          </a:p>
        </p:txBody>
      </p:sp>
      <p:sp>
        <p:nvSpPr>
          <p:cNvPr id="6" name="Text 3"/>
          <p:cNvSpPr/>
          <p:nvPr/>
        </p:nvSpPr>
        <p:spPr>
          <a:xfrm>
            <a:off x="7086600" y="1689100"/>
            <a:ext cx="4630674" cy="523169"/>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E4E4E"/>
                </a:solidFill>
                <a:latin typeface="Dax Pro" pitchFamily="34" charset="0"/>
                <a:ea typeface="Dax Pro" pitchFamily="34" charset="-122"/>
                <a:cs typeface="Dax Pro" pitchFamily="34" charset="-120"/>
              </a:rPr>
              <a:t>Each unanswered area turns red and says what it needs. The final statement has to be ticked too.</a:t>
            </a:r>
            <a:endParaRPr lang="en-US" sz="1400" dirty="0"/>
          </a:p>
        </p:txBody>
      </p:sp>
      <p:pic>
        <p:nvPicPr>
          <p:cNvPr id="7" name="Image 1" descr="BMO">    </p:cNvPr>
          <p:cNvPicPr>
            <a:picLocks noChangeAspect="1"/>
          </p:cNvPicPr>
          <p:nvPr/>
        </p:nvPicPr>
        <p:blipFill>
          <a:blip r:embed="rId2"/>
          <a:srcRect l="-658" r="-658" t="0" b="0"/>
          <a:stretch/>
        </p:blipFill>
        <p:spPr>
          <a:xfrm>
            <a:off x="762000" y="6464300"/>
            <a:ext cx="698500" cy="241300"/>
          </a:xfrm>
          <a:prstGeom prst="rect">
            <a:avLst/>
          </a:prstGeom>
        </p:spPr>
      </p:pic>
      <p:sp>
        <p:nvSpPr>
          <p:cNvPr id="8" name="Text 4"/>
          <p:cNvSpPr/>
          <p:nvPr/>
        </p:nvSpPr>
        <p:spPr>
          <a:xfrm>
            <a:off x="8966200" y="6489700"/>
            <a:ext cx="2616200" cy="203200"/>
          </a:xfrm>
          <a:prstGeom prst="rect">
            <a:avLst/>
          </a:prstGeom>
          <a:noFill/>
          <a:ln/>
        </p:spPr>
        <p:txBody>
          <a:bodyPr wrap="square" lIns="0" tIns="0" rIns="0" bIns="0" rtlCol="0" anchor="t">
            <a:normAutofit/>
          </a:bodyPr>
          <a:lstStyle/>
          <a:p>
            <a:pPr algn="r" indent="0" marL="0">
              <a:lnSpc>
                <a:spcPts val="1400"/>
              </a:lnSpc>
              <a:buNone/>
            </a:pPr>
            <a:r>
              <a:rPr lang="en-US" sz="1000" dirty="0">
                <a:solidFill>
                  <a:srgbClr val="707070"/>
                </a:solidFill>
                <a:latin typeface="Dax Pro" pitchFamily="34" charset="0"/>
                <a:ea typeface="Dax Pro" pitchFamily="34" charset="-122"/>
                <a:cs typeface="Dax Pro" pitchFamily="34" charset="-120"/>
              </a:rPr>
              <a:t>Internal    8</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52400" cy="6858000"/>
          </a:xfrm>
          <a:prstGeom prst="rect">
            <a:avLst/>
          </a:prstGeom>
          <a:gradFill rotWithShape="1">
            <a:gsLst>
              <a:gs pos="0">
                <a:srgbClr val="004068"/>
              </a:gs>
              <a:gs pos="100000">
                <a:srgbClr val="0079C1"/>
              </a:gs>
            </a:gsLst>
            <a:lin ang="5400000" scaled="0"/>
          </a:gradFill>
          <a:ln/>
        </p:spPr>
      </p:sp>
      <p:sp>
        <p:nvSpPr>
          <p:cNvPr id="3" name="Shape 1"/>
          <p:cNvSpPr/>
          <p:nvPr/>
        </p:nvSpPr>
        <p:spPr>
          <a:xfrm>
            <a:off x="762000" y="457200"/>
            <a:ext cx="6362700" cy="5638800"/>
          </a:xfrm>
          <a:prstGeom prst="rect">
            <a:avLst/>
          </a:prstGeom>
          <a:solidFill>
            <a:srgbClr val="E6F2FA"/>
          </a:solidFill>
          <a:ln/>
        </p:spPr>
      </p:sp>
      <p:pic>
        <p:nvPicPr>
          <p:cNvPr id="4" name="Image 0" descr="The Submit your attestation dialog over the completed form">    </p:cNvPr>
          <p:cNvPicPr>
            <a:picLocks noChangeAspect="1"/>
          </p:cNvPicPr>
          <p:nvPr/>
        </p:nvPicPr>
        <p:blipFill>
          <a:blip r:embed="rId1"/>
          <a:srcRect l="0" r="0" t="-34" b="-34"/>
          <a:stretch/>
        </p:blipFill>
        <p:spPr>
          <a:xfrm>
            <a:off x="850900" y="546100"/>
            <a:ext cx="6184900" cy="5461000"/>
          </a:xfrm>
          <a:prstGeom prst="rect">
            <a:avLst/>
          </a:prstGeom>
        </p:spPr>
      </p:pic>
      <p:sp>
        <p:nvSpPr>
          <p:cNvPr id="5" name="Text 2"/>
          <p:cNvSpPr/>
          <p:nvPr>
            <p:ph type="title"/>
          </p:nvPr>
        </p:nvSpPr>
        <p:spPr>
          <a:xfrm>
            <a:off x="7632700" y="609600"/>
            <a:ext cx="4068191" cy="901700"/>
          </a:xfrm>
          <a:prstGeom prst="rect">
            <a:avLst/>
          </a:prstGeom>
          <a:noFill/>
          <a:ln/>
        </p:spPr>
        <p:txBody>
          <a:bodyPr wrap="square" lIns="0" tIns="0" rIns="0" bIns="0" rtlCol="0" anchor="t">
            <a:normAutofit/>
          </a:bodyPr>
          <a:lstStyle/>
          <a:p>
            <a:pPr algn="l" indent="0" marL="0">
              <a:lnSpc>
                <a:spcPts val="3450"/>
              </a:lnSpc>
              <a:buNone/>
            </a:pPr>
            <a:r>
              <a:rPr lang="en-US" sz="3000" b="0" i="0" dirty="0">
                <a:solidFill>
                  <a:srgbClr val="1E1E1E"/>
                </a:solidFill>
                <a:latin typeface="Dax Pro" pitchFamily="34" charset="0"/>
                <a:ea typeface="Dax Pro" pitchFamily="34" charset="-122"/>
                <a:cs typeface="Dax Pro" pitchFamily="34" charset="-120"/>
              </a:rPr>
              <a:t>One last check before the answers are final</a:t>
            </a:r>
            <a:endParaRPr lang="en-US" sz="3000" dirty="0"/>
          </a:p>
        </p:txBody>
      </p:sp>
      <p:sp>
        <p:nvSpPr>
          <p:cNvPr id="6" name="Text 3"/>
          <p:cNvSpPr/>
          <p:nvPr/>
        </p:nvSpPr>
        <p:spPr>
          <a:xfrm>
            <a:off x="7632700" y="1689100"/>
            <a:ext cx="4068191" cy="523169"/>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E4E4E"/>
                </a:solidFill>
                <a:latin typeface="Dax Pro" pitchFamily="34" charset="0"/>
                <a:ea typeface="Dax Pro" pitchFamily="34" charset="-122"/>
                <a:cs typeface="Dax Pro" pitchFamily="34" charset="-120"/>
              </a:rPr>
              <a:t>Every area is answered, so Submit asks once more. Go back returns to the form.</a:t>
            </a:r>
            <a:endParaRPr lang="en-US" sz="1400" dirty="0"/>
          </a:p>
        </p:txBody>
      </p:sp>
      <p:pic>
        <p:nvPicPr>
          <p:cNvPr id="7" name="Image 1" descr="BMO">    </p:cNvPr>
          <p:cNvPicPr>
            <a:picLocks noChangeAspect="1"/>
          </p:cNvPicPr>
          <p:nvPr/>
        </p:nvPicPr>
        <p:blipFill>
          <a:blip r:embed="rId2"/>
          <a:srcRect l="-658" r="-658" t="0" b="0"/>
          <a:stretch/>
        </p:blipFill>
        <p:spPr>
          <a:xfrm>
            <a:off x="762000" y="6464300"/>
            <a:ext cx="698500" cy="241300"/>
          </a:xfrm>
          <a:prstGeom prst="rect">
            <a:avLst/>
          </a:prstGeom>
        </p:spPr>
      </p:pic>
      <p:sp>
        <p:nvSpPr>
          <p:cNvPr id="8" name="Text 4"/>
          <p:cNvSpPr/>
          <p:nvPr/>
        </p:nvSpPr>
        <p:spPr>
          <a:xfrm>
            <a:off x="8966200" y="6489700"/>
            <a:ext cx="2616200" cy="203200"/>
          </a:xfrm>
          <a:prstGeom prst="rect">
            <a:avLst/>
          </a:prstGeom>
          <a:noFill/>
          <a:ln/>
        </p:spPr>
        <p:txBody>
          <a:bodyPr wrap="square" lIns="0" tIns="0" rIns="0" bIns="0" rtlCol="0" anchor="t">
            <a:normAutofit/>
          </a:bodyPr>
          <a:lstStyle/>
          <a:p>
            <a:pPr algn="r" indent="0" marL="0">
              <a:lnSpc>
                <a:spcPts val="1400"/>
              </a:lnSpc>
              <a:buNone/>
            </a:pPr>
            <a:r>
              <a:rPr lang="en-US" sz="1000" dirty="0">
                <a:solidFill>
                  <a:srgbClr val="707070"/>
                </a:solidFill>
                <a:latin typeface="Dax Pro" pitchFamily="34" charset="0"/>
                <a:ea typeface="Dax Pro" pitchFamily="34" charset="-122"/>
                <a:cs typeface="Dax Pro" pitchFamily="34" charset="-120"/>
              </a:rPr>
              <a:t>Internal    9</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52400" cy="6858000"/>
          </a:xfrm>
          <a:prstGeom prst="rect">
            <a:avLst/>
          </a:prstGeom>
          <a:gradFill rotWithShape="1">
            <a:gsLst>
              <a:gs pos="0">
                <a:srgbClr val="004068"/>
              </a:gs>
              <a:gs pos="100000">
                <a:srgbClr val="0079C1"/>
              </a:gs>
            </a:gsLst>
            <a:lin ang="5400000" scaled="0"/>
          </a:gradFill>
          <a:ln/>
        </p:spPr>
      </p:sp>
      <p:sp>
        <p:nvSpPr>
          <p:cNvPr id="3" name="Text 1"/>
          <p:cNvSpPr/>
          <p:nvPr>
            <p:ph type="title"/>
          </p:nvPr>
        </p:nvSpPr>
        <p:spPr>
          <a:xfrm>
            <a:off x="762000" y="457200"/>
            <a:ext cx="11145012" cy="463550"/>
          </a:xfrm>
          <a:prstGeom prst="rect">
            <a:avLst/>
          </a:prstGeom>
          <a:noFill/>
          <a:ln/>
        </p:spPr>
        <p:txBody>
          <a:bodyPr wrap="square" lIns="0" tIns="0" rIns="0" bIns="0" rtlCol="0" anchor="t">
            <a:normAutofit/>
          </a:bodyPr>
          <a:lstStyle/>
          <a:p>
            <a:pPr algn="l" indent="0" marL="0">
              <a:lnSpc>
                <a:spcPts val="3450"/>
              </a:lnSpc>
              <a:buNone/>
            </a:pPr>
            <a:r>
              <a:rPr lang="en-US" sz="3000" b="0" i="0" dirty="0">
                <a:solidFill>
                  <a:srgbClr val="1E1E1E"/>
                </a:solidFill>
                <a:latin typeface="Dax Pro" pitchFamily="34" charset="0"/>
                <a:ea typeface="Dax Pro" pitchFamily="34" charset="-122"/>
                <a:cs typeface="Dax Pro" pitchFamily="34" charset="-120"/>
              </a:rPr>
              <a:t>Then a clear thank-you</a:t>
            </a:r>
            <a:endParaRPr lang="en-US" sz="3000" dirty="0"/>
          </a:p>
        </p:txBody>
      </p:sp>
      <p:sp>
        <p:nvSpPr>
          <p:cNvPr id="4" name="Shape 2"/>
          <p:cNvSpPr/>
          <p:nvPr/>
        </p:nvSpPr>
        <p:spPr>
          <a:xfrm>
            <a:off x="762000" y="1149350"/>
            <a:ext cx="10820400" cy="4648200"/>
          </a:xfrm>
          <a:prstGeom prst="rect">
            <a:avLst/>
          </a:prstGeom>
          <a:solidFill>
            <a:srgbClr val="E6F2FA"/>
          </a:solidFill>
          <a:ln/>
        </p:spPr>
      </p:sp>
      <p:pic>
        <p:nvPicPr>
          <p:cNvPr id="5" name="Image 0" descr="The thank-you screen after submitting">    </p:cNvPr>
          <p:cNvPicPr>
            <a:picLocks noChangeAspect="1"/>
          </p:cNvPicPr>
          <p:nvPr/>
        </p:nvPicPr>
        <p:blipFill>
          <a:blip r:embed="rId1"/>
          <a:srcRect l="0" r="0" t="-29" b="-29"/>
          <a:stretch/>
        </p:blipFill>
        <p:spPr>
          <a:xfrm>
            <a:off x="1409700" y="1238250"/>
            <a:ext cx="9525000" cy="4470400"/>
          </a:xfrm>
          <a:prstGeom prst="rect">
            <a:avLst/>
          </a:prstGeom>
        </p:spPr>
      </p:pic>
      <p:pic>
        <p:nvPicPr>
          <p:cNvPr id="6" name="Image 1" descr="BMO">    </p:cNvPr>
          <p:cNvPicPr>
            <a:picLocks noChangeAspect="1"/>
          </p:cNvPicPr>
          <p:nvPr/>
        </p:nvPicPr>
        <p:blipFill>
          <a:blip r:embed="rId2"/>
          <a:srcRect l="-658" r="-658" t="0" b="0"/>
          <a:stretch/>
        </p:blipFill>
        <p:spPr>
          <a:xfrm>
            <a:off x="762000" y="6464300"/>
            <a:ext cx="698500" cy="241300"/>
          </a:xfrm>
          <a:prstGeom prst="rect">
            <a:avLst/>
          </a:prstGeom>
        </p:spPr>
      </p:pic>
      <p:sp>
        <p:nvSpPr>
          <p:cNvPr id="7" name="Text 3"/>
          <p:cNvSpPr/>
          <p:nvPr/>
        </p:nvSpPr>
        <p:spPr>
          <a:xfrm>
            <a:off x="8966200" y="6489700"/>
            <a:ext cx="2616200" cy="203200"/>
          </a:xfrm>
          <a:prstGeom prst="rect">
            <a:avLst/>
          </a:prstGeom>
          <a:noFill/>
          <a:ln/>
        </p:spPr>
        <p:txBody>
          <a:bodyPr wrap="square" lIns="0" tIns="0" rIns="0" bIns="0" rtlCol="0" anchor="t">
            <a:normAutofit/>
          </a:bodyPr>
          <a:lstStyle/>
          <a:p>
            <a:pPr algn="r" indent="0" marL="0">
              <a:lnSpc>
                <a:spcPts val="1400"/>
              </a:lnSpc>
              <a:buNone/>
            </a:pPr>
            <a:r>
              <a:rPr lang="en-US" sz="1000" dirty="0">
                <a:solidFill>
                  <a:srgbClr val="707070"/>
                </a:solidFill>
                <a:latin typeface="Dax Pro" pitchFamily="34" charset="0"/>
                <a:ea typeface="Dax Pro" pitchFamily="34" charset="-122"/>
                <a:cs typeface="Dax Pro" pitchFamily="34" charset="-120"/>
              </a:rPr>
              <a:t>Internal    10</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52400" cy="6858000"/>
          </a:xfrm>
          <a:prstGeom prst="rect">
            <a:avLst/>
          </a:prstGeom>
          <a:gradFill rotWithShape="1">
            <a:gsLst>
              <a:gs pos="0">
                <a:srgbClr val="004068"/>
              </a:gs>
              <a:gs pos="100000">
                <a:srgbClr val="0079C1"/>
              </a:gs>
            </a:gsLst>
            <a:lin ang="5400000" scaled="0"/>
          </a:gradFill>
          <a:ln/>
        </p:spPr>
      </p:sp>
      <p:sp>
        <p:nvSpPr>
          <p:cNvPr id="3" name="Text 1"/>
          <p:cNvSpPr/>
          <p:nvPr>
            <p:ph type="title"/>
          </p:nvPr>
        </p:nvSpPr>
        <p:spPr>
          <a:xfrm>
            <a:off x="762000" y="457200"/>
            <a:ext cx="11145012" cy="463550"/>
          </a:xfrm>
          <a:prstGeom prst="rect">
            <a:avLst/>
          </a:prstGeom>
          <a:noFill/>
          <a:ln/>
        </p:spPr>
        <p:txBody>
          <a:bodyPr wrap="square" lIns="0" tIns="0" rIns="0" bIns="0" rtlCol="0" anchor="t">
            <a:normAutofit/>
          </a:bodyPr>
          <a:lstStyle/>
          <a:p>
            <a:pPr algn="l" indent="0" marL="0">
              <a:lnSpc>
                <a:spcPts val="3450"/>
              </a:lnSpc>
              <a:buNone/>
            </a:pPr>
            <a:r>
              <a:rPr lang="en-US" sz="3000" b="0" i="0" dirty="0">
                <a:solidFill>
                  <a:srgbClr val="1E1E1E"/>
                </a:solidFill>
                <a:latin typeface="Dax Pro" pitchFamily="34" charset="0"/>
                <a:ea typeface="Dax Pro" pitchFamily="34" charset="-122"/>
                <a:cs typeface="Dax Pro" pitchFamily="34" charset="-120"/>
              </a:rPr>
              <a:t>Coming back later shows only what's left</a:t>
            </a:r>
            <a:endParaRPr lang="en-US" sz="3000" dirty="0"/>
          </a:p>
        </p:txBody>
      </p:sp>
      <p:sp>
        <p:nvSpPr>
          <p:cNvPr id="4" name="Shape 2"/>
          <p:cNvSpPr/>
          <p:nvPr/>
        </p:nvSpPr>
        <p:spPr>
          <a:xfrm>
            <a:off x="762000" y="1149350"/>
            <a:ext cx="8178800" cy="4876800"/>
          </a:xfrm>
          <a:prstGeom prst="rect">
            <a:avLst/>
          </a:prstGeom>
          <a:solidFill>
            <a:srgbClr val="E6F2FA"/>
          </a:solidFill>
          <a:ln/>
        </p:spPr>
      </p:sp>
      <p:pic>
        <p:nvPicPr>
          <p:cNvPr id="5" name="Image 0" descr="The form with one area left and a note that two were already attested">    </p:cNvPr>
          <p:cNvPicPr>
            <a:picLocks noChangeAspect="1"/>
          </p:cNvPicPr>
          <p:nvPr/>
        </p:nvPicPr>
        <p:blipFill>
          <a:blip r:embed="rId1"/>
          <a:srcRect l="-10" r="-10" t="0" b="0"/>
          <a:stretch/>
        </p:blipFill>
        <p:spPr>
          <a:xfrm>
            <a:off x="1025525" y="1238250"/>
            <a:ext cx="7651750" cy="4699000"/>
          </a:xfrm>
          <a:prstGeom prst="rect">
            <a:avLst/>
          </a:prstGeom>
        </p:spPr>
      </p:pic>
      <p:sp>
        <p:nvSpPr>
          <p:cNvPr id="6" name="Text 3"/>
          <p:cNvSpPr/>
          <p:nvPr/>
        </p:nvSpPr>
        <p:spPr>
          <a:xfrm>
            <a:off x="9296400" y="1301750"/>
            <a:ext cx="330200" cy="330200"/>
          </a:xfrm>
          <a:prstGeom prst="roundRect">
            <a:avLst>
              <a:gd name="adj" fmla="val 50000"/>
            </a:avLst>
          </a:prstGeom>
          <a:solidFill>
            <a:srgbClr val="0079C1"/>
          </a:solidFill>
          <a:ln/>
        </p:spPr>
        <p:txBody>
          <a:bodyPr wrap="square" lIns="0" tIns="0" rIns="0" bIns="0" rtlCol="0" anchor="ctr">
            <a:normAutofit/>
          </a:bodyPr>
          <a:lstStyle/>
          <a:p>
            <a:pPr algn="ctr" indent="0" marL="0">
              <a:lnSpc>
                <a:spcPts val="1300"/>
              </a:lnSpc>
              <a:buNone/>
            </a:pPr>
            <a:r>
              <a:rPr lang="en-US" sz="1300" dirty="0">
                <a:solidFill>
                  <a:srgbClr val="FFFFFF"/>
                </a:solidFill>
                <a:latin typeface="Dax Pro" pitchFamily="34" charset="0"/>
                <a:ea typeface="Dax Pro" pitchFamily="34" charset="-122"/>
                <a:cs typeface="Dax Pro" pitchFamily="34" charset="-120"/>
              </a:rPr>
              <a:t>1</a:t>
            </a:r>
            <a:endParaRPr lang="en-US" sz="1300" dirty="0"/>
          </a:p>
        </p:txBody>
      </p:sp>
      <p:sp>
        <p:nvSpPr>
          <p:cNvPr id="7" name="Text 4"/>
          <p:cNvSpPr/>
          <p:nvPr/>
        </p:nvSpPr>
        <p:spPr>
          <a:xfrm>
            <a:off x="9728200" y="1301750"/>
            <a:ext cx="1909826" cy="471135"/>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1E1E1E"/>
                </a:solidFill>
                <a:latin typeface="Dax Pro" pitchFamily="34" charset="0"/>
                <a:ea typeface="Dax Pro" pitchFamily="34" charset="-122"/>
                <a:cs typeface="Dax Pro" pitchFamily="34" charset="-120"/>
              </a:rPr>
              <a:t>A note says how many areas are already done</a:t>
            </a:r>
            <a:endParaRPr lang="en-US" sz="1300" dirty="0"/>
          </a:p>
        </p:txBody>
      </p:sp>
      <p:pic>
        <p:nvPicPr>
          <p:cNvPr id="8" name="Image 1" descr="BMO">    </p:cNvPr>
          <p:cNvPicPr>
            <a:picLocks noChangeAspect="1"/>
          </p:cNvPicPr>
          <p:nvPr/>
        </p:nvPicPr>
        <p:blipFill>
          <a:blip r:embed="rId2"/>
          <a:srcRect l="-658" r="-658" t="0" b="0"/>
          <a:stretch/>
        </p:blipFill>
        <p:spPr>
          <a:xfrm>
            <a:off x="762000" y="6464300"/>
            <a:ext cx="698500" cy="241300"/>
          </a:xfrm>
          <a:prstGeom prst="rect">
            <a:avLst/>
          </a:prstGeom>
        </p:spPr>
      </p:pic>
      <p:sp>
        <p:nvSpPr>
          <p:cNvPr id="9" name="Text 5"/>
          <p:cNvSpPr/>
          <p:nvPr/>
        </p:nvSpPr>
        <p:spPr>
          <a:xfrm>
            <a:off x="8966200" y="6489700"/>
            <a:ext cx="2616200" cy="203200"/>
          </a:xfrm>
          <a:prstGeom prst="rect">
            <a:avLst/>
          </a:prstGeom>
          <a:noFill/>
          <a:ln/>
        </p:spPr>
        <p:txBody>
          <a:bodyPr wrap="square" lIns="0" tIns="0" rIns="0" bIns="0" rtlCol="0" anchor="t">
            <a:normAutofit/>
          </a:bodyPr>
          <a:lstStyle/>
          <a:p>
            <a:pPr algn="r" indent="0" marL="0">
              <a:lnSpc>
                <a:spcPts val="1400"/>
              </a:lnSpc>
              <a:buNone/>
            </a:pPr>
            <a:r>
              <a:rPr lang="en-US" sz="1000" dirty="0">
                <a:solidFill>
                  <a:srgbClr val="707070"/>
                </a:solidFill>
                <a:latin typeface="Dax Pro" pitchFamily="34" charset="0"/>
                <a:ea typeface="Dax Pro" pitchFamily="34" charset="-122"/>
                <a:cs typeface="Dax Pro" pitchFamily="34" charset="-120"/>
              </a:rPr>
              <a:t>Internal    11</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52400" cy="6858000"/>
          </a:xfrm>
          <a:prstGeom prst="rect">
            <a:avLst/>
          </a:prstGeom>
          <a:gradFill rotWithShape="1">
            <a:gsLst>
              <a:gs pos="0">
                <a:srgbClr val="004068"/>
              </a:gs>
              <a:gs pos="100000">
                <a:srgbClr val="0079C1"/>
              </a:gs>
            </a:gsLst>
            <a:lin ang="5400000" scaled="0"/>
          </a:gradFill>
          <a:ln/>
        </p:spPr>
      </p:sp>
      <p:sp>
        <p:nvSpPr>
          <p:cNvPr id="3" name="Text 1"/>
          <p:cNvSpPr/>
          <p:nvPr>
            <p:ph type="title"/>
          </p:nvPr>
        </p:nvSpPr>
        <p:spPr>
          <a:xfrm>
            <a:off x="762000" y="457200"/>
            <a:ext cx="11145012" cy="463550"/>
          </a:xfrm>
          <a:prstGeom prst="rect">
            <a:avLst/>
          </a:prstGeom>
          <a:noFill/>
          <a:ln/>
        </p:spPr>
        <p:txBody>
          <a:bodyPr wrap="square" lIns="0" tIns="0" rIns="0" bIns="0" rtlCol="0" anchor="t">
            <a:normAutofit/>
          </a:bodyPr>
          <a:lstStyle/>
          <a:p>
            <a:pPr algn="l" indent="0" marL="0">
              <a:lnSpc>
                <a:spcPts val="3450"/>
              </a:lnSpc>
              <a:buNone/>
            </a:pPr>
            <a:r>
              <a:rPr lang="en-US" sz="3000" b="0" i="0" dirty="0">
                <a:solidFill>
                  <a:srgbClr val="1E1E1E"/>
                </a:solidFill>
                <a:latin typeface="Dax Pro" pitchFamily="34" charset="0"/>
                <a:ea typeface="Dax Pro" pitchFamily="34" charset="-122"/>
                <a:cs typeface="Dax Pro" pitchFamily="34" charset="-120"/>
              </a:rPr>
              <a:t>When everything is submitted, the form says so</a:t>
            </a:r>
            <a:endParaRPr lang="en-US" sz="3000" dirty="0"/>
          </a:p>
        </p:txBody>
      </p:sp>
      <p:sp>
        <p:nvSpPr>
          <p:cNvPr id="4" name="Shape 2"/>
          <p:cNvSpPr/>
          <p:nvPr/>
        </p:nvSpPr>
        <p:spPr>
          <a:xfrm>
            <a:off x="762000" y="1149350"/>
            <a:ext cx="10820400" cy="4083050"/>
          </a:xfrm>
          <a:prstGeom prst="rect">
            <a:avLst/>
          </a:prstGeom>
          <a:solidFill>
            <a:srgbClr val="E6F2FA"/>
          </a:solidFill>
          <a:ln/>
        </p:spPr>
      </p:sp>
      <p:pic>
        <p:nvPicPr>
          <p:cNvPr id="5" name="Image 0" descr="The Attestation already submitted screen">    </p:cNvPr>
          <p:cNvPicPr>
            <a:picLocks noChangeAspect="1"/>
          </p:cNvPicPr>
          <p:nvPr/>
        </p:nvPicPr>
        <p:blipFill>
          <a:blip r:embed="rId1"/>
          <a:srcRect l="0" r="0" t="-2" b="-2"/>
          <a:stretch/>
        </p:blipFill>
        <p:spPr>
          <a:xfrm>
            <a:off x="1219200" y="1238250"/>
            <a:ext cx="9906000" cy="3905250"/>
          </a:xfrm>
          <a:prstGeom prst="rect">
            <a:avLst/>
          </a:prstGeom>
        </p:spPr>
      </p:pic>
      <p:pic>
        <p:nvPicPr>
          <p:cNvPr id="6" name="Image 1" descr="BMO">    </p:cNvPr>
          <p:cNvPicPr>
            <a:picLocks noChangeAspect="1"/>
          </p:cNvPicPr>
          <p:nvPr/>
        </p:nvPicPr>
        <p:blipFill>
          <a:blip r:embed="rId2"/>
          <a:srcRect l="-658" r="-658" t="0" b="0"/>
          <a:stretch/>
        </p:blipFill>
        <p:spPr>
          <a:xfrm>
            <a:off x="762000" y="6464300"/>
            <a:ext cx="698500" cy="241300"/>
          </a:xfrm>
          <a:prstGeom prst="rect">
            <a:avLst/>
          </a:prstGeom>
        </p:spPr>
      </p:pic>
      <p:sp>
        <p:nvSpPr>
          <p:cNvPr id="7" name="Text 3"/>
          <p:cNvSpPr/>
          <p:nvPr/>
        </p:nvSpPr>
        <p:spPr>
          <a:xfrm>
            <a:off x="8966200" y="6489700"/>
            <a:ext cx="2616200" cy="203200"/>
          </a:xfrm>
          <a:prstGeom prst="rect">
            <a:avLst/>
          </a:prstGeom>
          <a:noFill/>
          <a:ln/>
        </p:spPr>
        <p:txBody>
          <a:bodyPr wrap="square" lIns="0" tIns="0" rIns="0" bIns="0" rtlCol="0" anchor="t">
            <a:normAutofit/>
          </a:bodyPr>
          <a:lstStyle/>
          <a:p>
            <a:pPr algn="r" indent="0" marL="0">
              <a:lnSpc>
                <a:spcPts val="1400"/>
              </a:lnSpc>
              <a:buNone/>
            </a:pPr>
            <a:r>
              <a:rPr lang="en-US" sz="1000" dirty="0">
                <a:solidFill>
                  <a:srgbClr val="707070"/>
                </a:solidFill>
                <a:latin typeface="Dax Pro" pitchFamily="34" charset="0"/>
                <a:ea typeface="Dax Pro" pitchFamily="34" charset="-122"/>
                <a:cs typeface="Dax Pro" pitchFamily="34" charset="-120"/>
              </a:rPr>
              <a:t>Internal    12</a:t>
            </a:r>
            <a:endParaRPr lang="en-US" sz="1000" dirty="0"/>
          </a:p>
        </p:txBody>
      </p:sp>
    </p:spTree>
  </p:cSld>
  <p:clrMapOvr>
    <a:masterClrMapping/>
  </p:clrMapOvr>
</p:sld>
</file>

<file path=ppt/theme/theme1.xml><?xml version="1.0" encoding="utf-8"?>
<a:theme xmlns:a="http://schemas.openxmlformats.org/drawingml/2006/main" name="Physical Security Zones Attestation">
  <a:themeElements>
    <a:clrScheme name="Physical Security Zones Attestation">
      <a:dk1>
        <a:srgbClr val="1E1E1E"/>
      </a:dk1>
      <a:lt1>
        <a:srgbClr val="FFFFFF"/>
      </a:lt1>
      <a:dk2>
        <a:srgbClr val="565656"/>
      </a:dk2>
      <a:lt2>
        <a:srgbClr val="E9E9E9"/>
      </a:lt2>
      <a:accent1>
        <a:srgbClr val="0079C1"/>
      </a:accent1>
      <a:accent2>
        <a:srgbClr val="004068"/>
      </a:accent2>
      <a:accent3>
        <a:srgbClr val="E6F2FA"/>
      </a:accent3>
      <a:accent4>
        <a:srgbClr val="707070"/>
      </a:accent4>
      <a:accent5>
        <a:srgbClr val="4E4E4E"/>
      </a:accent5>
      <a:accent6>
        <a:srgbClr val="9AA0A6"/>
      </a:accent6>
      <a:hlink>
        <a:srgbClr val="0563C1"/>
      </a:hlink>
      <a:folHlink>
        <a:srgbClr val="954F72"/>
      </a:folHlink>
    </a:clrScheme>
    <a:fontScheme name="Physical Security Zones Attestation">
      <a:majorFont>
        <a:latin typeface="Dax Pro"/>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Dax Pro"/>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Physical Security Zones Attestation</dc:title>
  <dc:subject/>
  <dc:creator/>
  <cp:lastModifiedBy/>
  <cp:revision>1</cp:revision>
  <dcterms:created xsi:type="dcterms:W3CDTF">2026-10-14T02:17:55Z</dcterms:created>
  <dcterms:modified xsi:type="dcterms:W3CDTF">2026-10-14T02:17:55Z</dcterms:modified>
</cp:coreProperties>
</file>